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302" r:id="rId3"/>
    <p:sldId id="303" r:id="rId4"/>
    <p:sldId id="257" r:id="rId5"/>
    <p:sldId id="258" r:id="rId6"/>
    <p:sldId id="259" r:id="rId7"/>
    <p:sldId id="260" r:id="rId8"/>
    <p:sldId id="261" r:id="rId9"/>
    <p:sldId id="262" r:id="rId10"/>
    <p:sldId id="263"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1" d="100"/>
          <a:sy n="121" d="100"/>
        </p:scale>
        <p:origin x="346" y="-3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51229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F1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502920" y="594360"/>
            <a:ext cx="8412480" cy="68580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Graph Data Science</a:t>
            </a:r>
            <a:endParaRPr lang="en-US" sz="4000" dirty="0"/>
          </a:p>
        </p:txBody>
      </p:sp>
      <p:sp>
        <p:nvSpPr>
          <p:cNvPr id="4" name="Text 2"/>
          <p:cNvSpPr/>
          <p:nvPr/>
        </p:nvSpPr>
        <p:spPr>
          <a:xfrm>
            <a:off x="502920" y="1298448"/>
            <a:ext cx="8412480" cy="685800"/>
          </a:xfrm>
          <a:prstGeom prst="rect">
            <a:avLst/>
          </a:prstGeom>
          <a:noFill/>
          <a:ln/>
        </p:spPr>
        <p:txBody>
          <a:bodyPr wrap="square" rtlCol="0" anchor="ctr"/>
          <a:lstStyle/>
          <a:p>
            <a:pPr marL="0" indent="0">
              <a:buNone/>
            </a:pPr>
            <a:r>
              <a:rPr lang="en-US" sz="4000" b="1" dirty="0">
                <a:solidFill>
                  <a:srgbClr val="00B4D8"/>
                </a:solidFill>
                <a:latin typeface="Calibri" pitchFamily="34" charset="0"/>
                <a:ea typeface="Calibri" pitchFamily="34" charset="-122"/>
                <a:cs typeface="Calibri" pitchFamily="34" charset="-120"/>
              </a:rPr>
              <a:t>Algorithms</a:t>
            </a:r>
            <a:endParaRPr lang="en-US" sz="4000" dirty="0"/>
          </a:p>
        </p:txBody>
      </p:sp>
      <p:sp>
        <p:nvSpPr>
          <p:cNvPr id="5" name="Text 3"/>
          <p:cNvSpPr/>
          <p:nvPr/>
        </p:nvSpPr>
        <p:spPr>
          <a:xfrm>
            <a:off x="502920" y="2084832"/>
            <a:ext cx="6858000" cy="475488"/>
          </a:xfrm>
          <a:prstGeom prst="rect">
            <a:avLst/>
          </a:prstGeom>
          <a:noFill/>
          <a:ln/>
        </p:spPr>
        <p:txBody>
          <a:bodyPr wrap="square" rtlCol="0" anchor="ctr"/>
          <a:lstStyle/>
          <a:p>
            <a:pPr marL="0" indent="0">
              <a:buNone/>
            </a:pPr>
            <a:r>
              <a:rPr lang="en-US" sz="1200" i="1" dirty="0">
                <a:solidFill>
                  <a:srgbClr val="7B96B2"/>
                </a:solidFill>
                <a:latin typeface="Calibri" pitchFamily="34" charset="0"/>
                <a:ea typeface="Calibri" pitchFamily="34" charset="-122"/>
                <a:cs typeface="Calibri" pitchFamily="34" charset="-120"/>
              </a:rPr>
              <a:t>Using network intelligence to identify critical nodes and natural planning zones in the automotive supply chain</a:t>
            </a:r>
            <a:endParaRPr lang="en-US" sz="1200" dirty="0"/>
          </a:p>
        </p:txBody>
      </p:sp>
      <p:sp>
        <p:nvSpPr>
          <p:cNvPr id="6" name="Shape 4"/>
          <p:cNvSpPr/>
          <p:nvPr/>
        </p:nvSpPr>
        <p:spPr>
          <a:xfrm>
            <a:off x="502920" y="2743200"/>
            <a:ext cx="2011680" cy="987552"/>
          </a:xfrm>
          <a:prstGeom prst="rect">
            <a:avLst/>
          </a:prstGeom>
          <a:solidFill>
            <a:srgbClr val="112233"/>
          </a:solidFill>
          <a:ln w="10160">
            <a:solidFill>
              <a:srgbClr val="00B4D8"/>
            </a:solidFill>
            <a:prstDash val="solid"/>
          </a:ln>
        </p:spPr>
        <p:txBody>
          <a:bodyPr/>
          <a:lstStyle/>
          <a:p>
            <a:endParaRPr lang="en-US"/>
          </a:p>
        </p:txBody>
      </p:sp>
      <p:sp>
        <p:nvSpPr>
          <p:cNvPr id="7" name="Text 5"/>
          <p:cNvSpPr/>
          <p:nvPr/>
        </p:nvSpPr>
        <p:spPr>
          <a:xfrm>
            <a:off x="502920" y="2798064"/>
            <a:ext cx="2011680" cy="457200"/>
          </a:xfrm>
          <a:prstGeom prst="rect">
            <a:avLst/>
          </a:prstGeom>
          <a:noFill/>
          <a:ln/>
        </p:spPr>
        <p:txBody>
          <a:bodyPr wrap="square" rtlCol="0" anchor="ctr"/>
          <a:lstStyle/>
          <a:p>
            <a:pPr marL="0" indent="0" algn="ctr">
              <a:buNone/>
            </a:pPr>
            <a:r>
              <a:rPr lang="en-US" sz="2400" b="1" dirty="0">
                <a:solidFill>
                  <a:srgbClr val="00B4D8"/>
                </a:solidFill>
                <a:latin typeface="Calibri" pitchFamily="34" charset="0"/>
                <a:ea typeface="Calibri" pitchFamily="34" charset="-122"/>
                <a:cs typeface="Calibri" pitchFamily="34" charset="-120"/>
              </a:rPr>
              <a:t>56,083</a:t>
            </a:r>
            <a:endParaRPr lang="en-US" sz="2400" dirty="0"/>
          </a:p>
        </p:txBody>
      </p:sp>
      <p:sp>
        <p:nvSpPr>
          <p:cNvPr id="8" name="Text 6"/>
          <p:cNvSpPr/>
          <p:nvPr/>
        </p:nvSpPr>
        <p:spPr>
          <a:xfrm>
            <a:off x="502920" y="3273552"/>
            <a:ext cx="2011680" cy="365760"/>
          </a:xfrm>
          <a:prstGeom prst="rect">
            <a:avLst/>
          </a:prstGeom>
          <a:noFill/>
          <a:ln/>
        </p:spPr>
        <p:txBody>
          <a:bodyPr wrap="square" rtlCol="0" anchor="ctr"/>
          <a:lstStyle/>
          <a:p>
            <a:pPr marL="0" indent="0" algn="ctr">
              <a:buNone/>
            </a:pPr>
            <a:r>
              <a:rPr lang="en-US" sz="850" dirty="0">
                <a:solidFill>
                  <a:srgbClr val="7B96B2"/>
                </a:solidFill>
                <a:latin typeface="Calibri" pitchFamily="34" charset="0"/>
                <a:ea typeface="Calibri" pitchFamily="34" charset="-122"/>
                <a:cs typeface="Calibri" pitchFamily="34" charset="-120"/>
              </a:rPr>
              <a:t>Nodes in</a:t>
            </a:r>
            <a:endParaRPr lang="en-US" sz="850" dirty="0"/>
          </a:p>
          <a:p>
            <a:pPr marL="0" indent="0" algn="ctr">
              <a:buNone/>
            </a:pPr>
            <a:r>
              <a:rPr lang="en-US" sz="850" dirty="0">
                <a:solidFill>
                  <a:srgbClr val="7B96B2"/>
                </a:solidFill>
                <a:latin typeface="Calibri" pitchFamily="34" charset="0"/>
                <a:ea typeface="Calibri" pitchFamily="34" charset="-122"/>
                <a:cs typeface="Calibri" pitchFamily="34" charset="-120"/>
              </a:rPr>
              <a:t>Full Projection</a:t>
            </a:r>
            <a:endParaRPr lang="en-US" sz="850" dirty="0"/>
          </a:p>
        </p:txBody>
      </p:sp>
      <p:sp>
        <p:nvSpPr>
          <p:cNvPr id="9" name="Shape 7"/>
          <p:cNvSpPr/>
          <p:nvPr/>
        </p:nvSpPr>
        <p:spPr>
          <a:xfrm>
            <a:off x="2642616" y="2743200"/>
            <a:ext cx="2011680" cy="987552"/>
          </a:xfrm>
          <a:prstGeom prst="rect">
            <a:avLst/>
          </a:prstGeom>
          <a:solidFill>
            <a:srgbClr val="112233"/>
          </a:solidFill>
          <a:ln w="10160">
            <a:solidFill>
              <a:srgbClr val="00B4D8"/>
            </a:solidFill>
            <a:prstDash val="solid"/>
          </a:ln>
        </p:spPr>
        <p:txBody>
          <a:bodyPr/>
          <a:lstStyle/>
          <a:p>
            <a:endParaRPr lang="en-US"/>
          </a:p>
        </p:txBody>
      </p:sp>
      <p:sp>
        <p:nvSpPr>
          <p:cNvPr id="10" name="Text 8"/>
          <p:cNvSpPr/>
          <p:nvPr/>
        </p:nvSpPr>
        <p:spPr>
          <a:xfrm>
            <a:off x="2642616" y="2798064"/>
            <a:ext cx="2011680" cy="457200"/>
          </a:xfrm>
          <a:prstGeom prst="rect">
            <a:avLst/>
          </a:prstGeom>
          <a:noFill/>
          <a:ln/>
        </p:spPr>
        <p:txBody>
          <a:bodyPr wrap="square" rtlCol="0" anchor="ctr"/>
          <a:lstStyle/>
          <a:p>
            <a:pPr marL="0" indent="0" algn="ctr">
              <a:buNone/>
            </a:pPr>
            <a:r>
              <a:rPr lang="en-US" sz="2400" b="1" dirty="0">
                <a:solidFill>
                  <a:srgbClr val="00B4D8"/>
                </a:solidFill>
                <a:latin typeface="Calibri" pitchFamily="34" charset="0"/>
                <a:ea typeface="Calibri" pitchFamily="34" charset="-122"/>
                <a:cs typeface="Calibri" pitchFamily="34" charset="-120"/>
              </a:rPr>
              <a:t>171,163</a:t>
            </a:r>
            <a:endParaRPr lang="en-US" sz="2400" dirty="0"/>
          </a:p>
        </p:txBody>
      </p:sp>
      <p:sp>
        <p:nvSpPr>
          <p:cNvPr id="11" name="Text 9"/>
          <p:cNvSpPr/>
          <p:nvPr/>
        </p:nvSpPr>
        <p:spPr>
          <a:xfrm>
            <a:off x="2642616" y="3273552"/>
            <a:ext cx="2011680" cy="365760"/>
          </a:xfrm>
          <a:prstGeom prst="rect">
            <a:avLst/>
          </a:prstGeom>
          <a:noFill/>
          <a:ln/>
        </p:spPr>
        <p:txBody>
          <a:bodyPr wrap="square" rtlCol="0" anchor="ctr"/>
          <a:lstStyle/>
          <a:p>
            <a:pPr marL="0" indent="0" algn="ctr">
              <a:buNone/>
            </a:pPr>
            <a:r>
              <a:rPr lang="en-US" sz="850" dirty="0">
                <a:solidFill>
                  <a:srgbClr val="7B96B2"/>
                </a:solidFill>
                <a:latin typeface="Calibri" pitchFamily="34" charset="0"/>
                <a:ea typeface="Calibri" pitchFamily="34" charset="-122"/>
                <a:cs typeface="Calibri" pitchFamily="34" charset="-120"/>
              </a:rPr>
              <a:t>Relationships</a:t>
            </a:r>
            <a:endParaRPr lang="en-US" sz="850" dirty="0"/>
          </a:p>
          <a:p>
            <a:pPr marL="0" indent="0" algn="ctr">
              <a:buNone/>
            </a:pPr>
            <a:r>
              <a:rPr lang="en-US" sz="850" dirty="0">
                <a:solidFill>
                  <a:srgbClr val="7B96B2"/>
                </a:solidFill>
                <a:latin typeface="Calibri" pitchFamily="34" charset="0"/>
                <a:ea typeface="Calibri" pitchFamily="34" charset="-122"/>
                <a:cs typeface="Calibri" pitchFamily="34" charset="-120"/>
              </a:rPr>
              <a:t>Projected</a:t>
            </a:r>
            <a:endParaRPr lang="en-US" sz="850" dirty="0"/>
          </a:p>
        </p:txBody>
      </p:sp>
      <p:sp>
        <p:nvSpPr>
          <p:cNvPr id="12" name="Shape 10"/>
          <p:cNvSpPr/>
          <p:nvPr/>
        </p:nvSpPr>
        <p:spPr>
          <a:xfrm>
            <a:off x="4782312" y="2743200"/>
            <a:ext cx="2011680" cy="987552"/>
          </a:xfrm>
          <a:prstGeom prst="rect">
            <a:avLst/>
          </a:prstGeom>
          <a:solidFill>
            <a:srgbClr val="112233"/>
          </a:solidFill>
          <a:ln w="10160">
            <a:solidFill>
              <a:srgbClr val="00B4D8"/>
            </a:solidFill>
            <a:prstDash val="solid"/>
          </a:ln>
        </p:spPr>
        <p:txBody>
          <a:bodyPr/>
          <a:lstStyle/>
          <a:p>
            <a:endParaRPr lang="en-US"/>
          </a:p>
        </p:txBody>
      </p:sp>
      <p:sp>
        <p:nvSpPr>
          <p:cNvPr id="13" name="Text 11"/>
          <p:cNvSpPr/>
          <p:nvPr/>
        </p:nvSpPr>
        <p:spPr>
          <a:xfrm>
            <a:off x="4782312" y="2798064"/>
            <a:ext cx="2011680" cy="457200"/>
          </a:xfrm>
          <a:prstGeom prst="rect">
            <a:avLst/>
          </a:prstGeom>
          <a:noFill/>
          <a:ln/>
        </p:spPr>
        <p:txBody>
          <a:bodyPr wrap="square" rtlCol="0" anchor="ctr"/>
          <a:lstStyle/>
          <a:p>
            <a:pPr marL="0" indent="0" algn="ctr">
              <a:buNone/>
            </a:pPr>
            <a:r>
              <a:rPr lang="en-US" sz="2400" b="1" dirty="0">
                <a:solidFill>
                  <a:srgbClr val="00B4D8"/>
                </a:solidFill>
                <a:latin typeface="Calibri" pitchFamily="34" charset="0"/>
                <a:ea typeface="Calibri" pitchFamily="34" charset="-122"/>
                <a:cs typeface="Calibri" pitchFamily="34" charset="-120"/>
              </a:rPr>
              <a:t>28,049</a:t>
            </a:r>
            <a:endParaRPr lang="en-US" sz="2400" dirty="0"/>
          </a:p>
        </p:txBody>
      </p:sp>
      <p:sp>
        <p:nvSpPr>
          <p:cNvPr id="14" name="Text 12"/>
          <p:cNvSpPr/>
          <p:nvPr/>
        </p:nvSpPr>
        <p:spPr>
          <a:xfrm>
            <a:off x="4782312" y="3273552"/>
            <a:ext cx="2011680" cy="365760"/>
          </a:xfrm>
          <a:prstGeom prst="rect">
            <a:avLst/>
          </a:prstGeom>
          <a:noFill/>
          <a:ln/>
        </p:spPr>
        <p:txBody>
          <a:bodyPr wrap="square" rtlCol="0" anchor="ctr"/>
          <a:lstStyle/>
          <a:p>
            <a:pPr marL="0" indent="0" algn="ctr">
              <a:buNone/>
            </a:pPr>
            <a:r>
              <a:rPr lang="en-US" sz="850" dirty="0">
                <a:solidFill>
                  <a:srgbClr val="7B96B2"/>
                </a:solidFill>
                <a:latin typeface="Calibri" pitchFamily="34" charset="0"/>
                <a:ea typeface="Calibri" pitchFamily="34" charset="-122"/>
                <a:cs typeface="Calibri" pitchFamily="34" charset="-120"/>
              </a:rPr>
              <a:t>Products in</a:t>
            </a:r>
            <a:endParaRPr lang="en-US" sz="850" dirty="0"/>
          </a:p>
          <a:p>
            <a:pPr marL="0" indent="0" algn="ctr">
              <a:buNone/>
            </a:pPr>
            <a:r>
              <a:rPr lang="en-US" sz="850" dirty="0">
                <a:solidFill>
                  <a:srgbClr val="7B96B2"/>
                </a:solidFill>
                <a:latin typeface="Calibri" pitchFamily="34" charset="0"/>
                <a:ea typeface="Calibri" pitchFamily="34" charset="-122"/>
                <a:cs typeface="Calibri" pitchFamily="34" charset="-120"/>
              </a:rPr>
              <a:t>BOM Projection</a:t>
            </a:r>
            <a:endParaRPr lang="en-US" sz="850" dirty="0"/>
          </a:p>
        </p:txBody>
      </p:sp>
      <p:sp>
        <p:nvSpPr>
          <p:cNvPr id="15" name="Shape 13"/>
          <p:cNvSpPr/>
          <p:nvPr/>
        </p:nvSpPr>
        <p:spPr>
          <a:xfrm>
            <a:off x="6922008" y="2743200"/>
            <a:ext cx="2011680" cy="987552"/>
          </a:xfrm>
          <a:prstGeom prst="rect">
            <a:avLst/>
          </a:prstGeom>
          <a:solidFill>
            <a:srgbClr val="112233"/>
          </a:solidFill>
          <a:ln w="10160">
            <a:solidFill>
              <a:srgbClr val="00B4D8"/>
            </a:solidFill>
            <a:prstDash val="solid"/>
          </a:ln>
        </p:spPr>
        <p:txBody>
          <a:bodyPr/>
          <a:lstStyle/>
          <a:p>
            <a:endParaRPr lang="en-US"/>
          </a:p>
        </p:txBody>
      </p:sp>
      <p:sp>
        <p:nvSpPr>
          <p:cNvPr id="16" name="Text 14"/>
          <p:cNvSpPr/>
          <p:nvPr/>
        </p:nvSpPr>
        <p:spPr>
          <a:xfrm>
            <a:off x="6922008" y="2798064"/>
            <a:ext cx="2011680" cy="457200"/>
          </a:xfrm>
          <a:prstGeom prst="rect">
            <a:avLst/>
          </a:prstGeom>
          <a:noFill/>
          <a:ln/>
        </p:spPr>
        <p:txBody>
          <a:bodyPr wrap="square" rtlCol="0" anchor="ctr"/>
          <a:lstStyle/>
          <a:p>
            <a:pPr marL="0" indent="0" algn="ctr">
              <a:buNone/>
            </a:pPr>
            <a:r>
              <a:rPr lang="en-US" sz="2400" b="1" dirty="0">
                <a:solidFill>
                  <a:srgbClr val="00B4D8"/>
                </a:solidFill>
                <a:latin typeface="Calibri" pitchFamily="34" charset="0"/>
                <a:ea typeface="Calibri" pitchFamily="34" charset="-122"/>
                <a:cs typeface="Calibri" pitchFamily="34" charset="-120"/>
              </a:rPr>
              <a:t>7</a:t>
            </a:r>
            <a:endParaRPr lang="en-US" sz="2400" dirty="0"/>
          </a:p>
        </p:txBody>
      </p:sp>
      <p:sp>
        <p:nvSpPr>
          <p:cNvPr id="17" name="Text 15"/>
          <p:cNvSpPr/>
          <p:nvPr/>
        </p:nvSpPr>
        <p:spPr>
          <a:xfrm>
            <a:off x="6922008" y="3273552"/>
            <a:ext cx="2011680" cy="365760"/>
          </a:xfrm>
          <a:prstGeom prst="rect">
            <a:avLst/>
          </a:prstGeom>
          <a:noFill/>
          <a:ln/>
        </p:spPr>
        <p:txBody>
          <a:bodyPr wrap="square" rtlCol="0" anchor="ctr"/>
          <a:lstStyle/>
          <a:p>
            <a:pPr marL="0" indent="0" algn="ctr">
              <a:buNone/>
            </a:pPr>
            <a:r>
              <a:rPr lang="en-US" sz="850" dirty="0">
                <a:solidFill>
                  <a:srgbClr val="7B96B2"/>
                </a:solidFill>
                <a:latin typeface="Calibri" pitchFamily="34" charset="0"/>
                <a:ea typeface="Calibri" pitchFamily="34" charset="-122"/>
                <a:cs typeface="Calibri" pitchFamily="34" charset="-120"/>
              </a:rPr>
              <a:t>Natural Planning</a:t>
            </a:r>
            <a:endParaRPr lang="en-US" sz="850" dirty="0"/>
          </a:p>
          <a:p>
            <a:pPr marL="0" indent="0" algn="ctr">
              <a:buNone/>
            </a:pPr>
            <a:r>
              <a:rPr lang="en-US" sz="850" dirty="0">
                <a:solidFill>
                  <a:srgbClr val="7B96B2"/>
                </a:solidFill>
                <a:latin typeface="Calibri" pitchFamily="34" charset="0"/>
                <a:ea typeface="Calibri" pitchFamily="34" charset="-122"/>
                <a:cs typeface="Calibri" pitchFamily="34" charset="-120"/>
              </a:rPr>
              <a:t>Zones Found</a:t>
            </a:r>
            <a:endParaRPr lang="en-US" sz="850" dirty="0"/>
          </a:p>
        </p:txBody>
      </p:sp>
      <p:sp>
        <p:nvSpPr>
          <p:cNvPr id="18" name="Text 16"/>
          <p:cNvSpPr/>
          <p:nvPr/>
        </p:nvSpPr>
        <p:spPr>
          <a:xfrm>
            <a:off x="502920" y="3913632"/>
            <a:ext cx="8229600" cy="256032"/>
          </a:xfrm>
          <a:prstGeom prst="rect">
            <a:avLst/>
          </a:prstGeom>
          <a:noFill/>
          <a:ln/>
        </p:spPr>
        <p:txBody>
          <a:bodyPr wrap="square" rtlCol="0" anchor="ctr"/>
          <a:lstStyle/>
          <a:p>
            <a:pPr marL="0" indent="0">
              <a:buNone/>
            </a:pPr>
            <a:r>
              <a:rPr lang="en-US" sz="1000" dirty="0">
                <a:solidFill>
                  <a:srgbClr val="7B96B2"/>
                </a:solidFill>
                <a:latin typeface="Calibri" pitchFamily="34" charset="0"/>
                <a:ea typeface="Calibri" pitchFamily="34" charset="-122"/>
                <a:cs typeface="Calibri" pitchFamily="34" charset="-120"/>
              </a:rPr>
              <a:t>Team: Bekithemba Nkomo  ·  Peter Mangoro  ·  Masheia Dzimba</a:t>
            </a:r>
            <a:endParaRPr lang="en-US" sz="1000" dirty="0"/>
          </a:p>
        </p:txBody>
      </p:sp>
      <p:sp>
        <p:nvSpPr>
          <p:cNvPr id="19" name="Text 17"/>
          <p:cNvSpPr/>
          <p:nvPr/>
        </p:nvSpPr>
        <p:spPr>
          <a:xfrm>
            <a:off x="0" y="4992624"/>
            <a:ext cx="9144000" cy="155448"/>
          </a:xfrm>
          <a:prstGeom prst="rect">
            <a:avLst/>
          </a:prstGeom>
          <a:noFill/>
          <a:ln/>
        </p:spPr>
        <p:txBody>
          <a:bodyPr wrap="square" rtlCol="0" anchor="ctr"/>
          <a:lstStyle/>
          <a:p>
            <a:pPr marL="0" indent="0" algn="ctr">
              <a:buNone/>
            </a:pPr>
            <a:r>
              <a:rPr lang="en-US" sz="700" dirty="0">
                <a:solidFill>
                  <a:srgbClr val="7B96B2"/>
                </a:solidFill>
              </a:rPr>
              <a:t>Moetz et al. (2020)  ·  Neo4j Graph Data Science  ·  Spring 2026 Capstone</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bg"/>
          <p:cNvSpPr/>
          <p:nvPr/>
        </p:nvSpPr>
        <p:spPr>
          <a:xfrm>
            <a:off x="0" y="0"/>
            <a:ext cx="9144000" cy="5143500"/>
          </a:xfrm>
          <a:prstGeom prst="rect">
            <a:avLst/>
          </a:prstGeom>
          <a:solidFill>
            <a:srgbClr val="0D1B2A"/>
          </a:solidFill>
        </p:spPr>
        <p:txBody>
          <a:bodyPr/>
          <a:lstStyle/>
          <a:p>
            <a:endParaRPr/>
          </a:p>
        </p:txBody>
      </p:sp>
      <p:sp>
        <p:nvSpPr>
          <p:cNvPr id="11" name="title"/>
          <p:cNvSpPr>
            <a:spLocks noGrp="1"/>
          </p:cNvSpPr>
          <p:nvPr/>
        </p:nvSpPr>
        <p:spPr>
          <a:xfrm>
            <a:off x="365760" y="109728"/>
            <a:ext cx="8412480" cy="438912"/>
          </a:xfrm>
          <a:prstGeom prst="rect">
            <a:avLst/>
          </a:prstGeom>
          <a:noFill/>
        </p:spPr>
        <p:txBody>
          <a:bodyPr wrap="square" anchor="t">
            <a:normAutofit/>
          </a:bodyPr>
          <a:lstStyle/>
          <a:p>
            <a:pPr algn="l"/>
            <a:r>
              <a:rPr lang="en-US" sz="2000" dirty="0">
                <a:solidFill>
                  <a:srgbClr val="FFFFFF"/>
                </a:solidFill>
              </a:rPr>
              <a:t>EDA Recap — What We Discovered About the Supply Network</a:t>
            </a:r>
          </a:p>
        </p:txBody>
      </p:sp>
      <p:sp>
        <p:nvSpPr>
          <p:cNvPr id="12" name="sub"/>
          <p:cNvSpPr>
            <a:spLocks noGrp="1"/>
          </p:cNvSpPr>
          <p:nvPr/>
        </p:nvSpPr>
        <p:spPr>
          <a:xfrm>
            <a:off x="365760" y="566928"/>
            <a:ext cx="8412480" cy="237744"/>
          </a:xfrm>
          <a:prstGeom prst="rect">
            <a:avLst/>
          </a:prstGeom>
          <a:noFill/>
        </p:spPr>
        <p:txBody>
          <a:bodyPr wrap="square" anchor="t">
            <a:normAutofit/>
          </a:bodyPr>
          <a:lstStyle/>
          <a:p>
            <a:pPr algn="l"/>
            <a:r>
              <a:rPr lang="en-US" sz="900" dirty="0">
                <a:solidFill>
                  <a:srgbClr val="7B96B2"/>
                </a:solidFill>
              </a:rPr>
              <a:t>10 exploratory questions across 5 chapters — from graph validation to downstream impact mapping</a:t>
            </a:r>
          </a:p>
        </p:txBody>
      </p:sp>
      <p:sp>
        <p:nvSpPr>
          <p:cNvPr id="20" name="card"/>
          <p:cNvSpPr/>
          <p:nvPr/>
        </p:nvSpPr>
        <p:spPr>
          <a:xfrm>
            <a:off x="256032" y="914400"/>
            <a:ext cx="2048256" cy="1810512"/>
          </a:xfrm>
          <a:prstGeom prst="rect">
            <a:avLst/>
          </a:prstGeom>
          <a:solidFill>
            <a:srgbClr val="112233"/>
          </a:solidFill>
          <a:ln w="7620">
            <a:solidFill>
              <a:srgbClr val="00B4D8"/>
            </a:solidFill>
          </a:ln>
        </p:spPr>
        <p:txBody>
          <a:bodyPr/>
          <a:lstStyle/>
          <a:p>
            <a:endParaRPr/>
          </a:p>
        </p:txBody>
      </p:sp>
      <p:sp>
        <p:nvSpPr>
          <p:cNvPr id="21" name="hdr"/>
          <p:cNvSpPr/>
          <p:nvPr/>
        </p:nvSpPr>
        <p:spPr>
          <a:xfrm>
            <a:off x="256032" y="914400"/>
            <a:ext cx="2048256" cy="292608"/>
          </a:xfrm>
          <a:prstGeom prst="rect">
            <a:avLst/>
          </a:prstGeom>
          <a:solidFill>
            <a:srgbClr val="00B4D8"/>
          </a:solidFill>
          <a:ln w="9525">
            <a:solidFill>
              <a:srgbClr val="00B4D8"/>
            </a:solidFill>
          </a:ln>
        </p:spPr>
        <p:txBody>
          <a:bodyPr/>
          <a:lstStyle/>
          <a:p>
            <a:endParaRPr/>
          </a:p>
        </p:txBody>
      </p:sp>
      <p:sp>
        <p:nvSpPr>
          <p:cNvPr id="22" name="lbl"/>
          <p:cNvSpPr>
            <a:spLocks noGrp="1"/>
          </p:cNvSpPr>
          <p:nvPr/>
        </p:nvSpPr>
        <p:spPr>
          <a:xfrm>
            <a:off x="329184" y="914400"/>
            <a:ext cx="1901952" cy="292608"/>
          </a:xfrm>
          <a:prstGeom prst="rect">
            <a:avLst/>
          </a:prstGeom>
          <a:noFill/>
        </p:spPr>
        <p:txBody>
          <a:bodyPr wrap="square" anchor="ctr">
            <a:normAutofit/>
          </a:bodyPr>
          <a:lstStyle/>
          <a:p>
            <a:pPr algn="l"/>
            <a:r>
              <a:rPr lang="en-US" sz="800" dirty="0">
                <a:solidFill>
                  <a:srgbClr val="FFFFFF"/>
                </a:solidFill>
              </a:rPr>
              <a:t>EDA 1-3: Graph Validation</a:t>
            </a:r>
          </a:p>
        </p:txBody>
      </p:sp>
      <p:sp>
        <p:nvSpPr>
          <p:cNvPr id="23" name="body"/>
          <p:cNvSpPr>
            <a:spLocks noGrp="1"/>
          </p:cNvSpPr>
          <p:nvPr/>
        </p:nvSpPr>
        <p:spPr>
          <a:xfrm>
            <a:off x="347472" y="1261872"/>
            <a:ext cx="1865376" cy="1389888"/>
          </a:xfrm>
          <a:prstGeom prst="rect">
            <a:avLst/>
          </a:prstGeom>
          <a:noFill/>
        </p:spPr>
        <p:txBody>
          <a:bodyPr wrap="square" anchor="t">
            <a:normAutofit/>
          </a:bodyPr>
          <a:lstStyle/>
          <a:p>
            <a:pPr algn="l"/>
            <a:r>
              <a:rPr lang="en-US" sz="850" dirty="0">
                <a:solidFill>
                  <a:srgbClr val="D6E4F0"/>
                </a:solidFill>
              </a:rPr>
              <a:t>Confirmed 56,135 nodes, 16 relationship types,</a:t>
            </a:r>
          </a:p>
          <a:p>
            <a:pPr algn="l"/>
            <a:r>
              <a:rPr lang="en-US" sz="850" dirty="0">
                <a:solidFill>
                  <a:srgbClr val="D6E4F0"/>
                </a:solidFill>
              </a:rPr>
              <a:t>all properties intact.</a:t>
            </a:r>
          </a:p>
          <a:p>
            <a:pPr algn="l"/>
            <a:r>
              <a:rPr lang="en-US" sz="850" dirty="0">
                <a:solidFill>
                  <a:srgbClr val="D6E4F0"/>
                </a:solidFill>
              </a:rPr>
              <a:t>The network is real and complete.</a:t>
            </a:r>
          </a:p>
        </p:txBody>
      </p:sp>
      <p:sp>
        <p:nvSpPr>
          <p:cNvPr id="24" name="card"/>
          <p:cNvSpPr/>
          <p:nvPr/>
        </p:nvSpPr>
        <p:spPr>
          <a:xfrm>
            <a:off x="2432304" y="914400"/>
            <a:ext cx="2048256" cy="1810512"/>
          </a:xfrm>
          <a:prstGeom prst="rect">
            <a:avLst/>
          </a:prstGeom>
          <a:solidFill>
            <a:srgbClr val="112233"/>
          </a:solidFill>
          <a:ln w="7620">
            <a:solidFill>
              <a:srgbClr val="00B4D8"/>
            </a:solidFill>
          </a:ln>
        </p:spPr>
        <p:txBody>
          <a:bodyPr/>
          <a:lstStyle/>
          <a:p>
            <a:endParaRPr/>
          </a:p>
        </p:txBody>
      </p:sp>
      <p:sp>
        <p:nvSpPr>
          <p:cNvPr id="25" name="hdr"/>
          <p:cNvSpPr/>
          <p:nvPr/>
        </p:nvSpPr>
        <p:spPr>
          <a:xfrm>
            <a:off x="2432304" y="914400"/>
            <a:ext cx="2048256" cy="292608"/>
          </a:xfrm>
          <a:prstGeom prst="rect">
            <a:avLst/>
          </a:prstGeom>
          <a:solidFill>
            <a:srgbClr val="00B4D8"/>
          </a:solidFill>
          <a:ln w="9525">
            <a:solidFill>
              <a:srgbClr val="00B4D8"/>
            </a:solidFill>
          </a:ln>
        </p:spPr>
        <p:txBody>
          <a:bodyPr/>
          <a:lstStyle/>
          <a:p>
            <a:endParaRPr/>
          </a:p>
        </p:txBody>
      </p:sp>
      <p:sp>
        <p:nvSpPr>
          <p:cNvPr id="26" name="lbl"/>
          <p:cNvSpPr>
            <a:spLocks noGrp="1"/>
          </p:cNvSpPr>
          <p:nvPr/>
        </p:nvSpPr>
        <p:spPr>
          <a:xfrm>
            <a:off x="2505456" y="914400"/>
            <a:ext cx="1901952" cy="292608"/>
          </a:xfrm>
          <a:prstGeom prst="rect">
            <a:avLst/>
          </a:prstGeom>
          <a:noFill/>
        </p:spPr>
        <p:txBody>
          <a:bodyPr wrap="square" anchor="ctr">
            <a:normAutofit/>
          </a:bodyPr>
          <a:lstStyle/>
          <a:p>
            <a:pPr algn="l"/>
            <a:r>
              <a:rPr lang="en-US" sz="800" dirty="0">
                <a:solidFill>
                  <a:srgbClr val="FFFFFF"/>
                </a:solidFill>
              </a:rPr>
              <a:t>EDA 4: BOM Composition</a:t>
            </a:r>
          </a:p>
        </p:txBody>
      </p:sp>
      <p:sp>
        <p:nvSpPr>
          <p:cNvPr id="27" name="body"/>
          <p:cNvSpPr>
            <a:spLocks noGrp="1"/>
          </p:cNvSpPr>
          <p:nvPr/>
        </p:nvSpPr>
        <p:spPr>
          <a:xfrm>
            <a:off x="2523744" y="1261872"/>
            <a:ext cx="1865376" cy="1389888"/>
          </a:xfrm>
          <a:prstGeom prst="rect">
            <a:avLst/>
          </a:prstGeom>
          <a:noFill/>
        </p:spPr>
        <p:txBody>
          <a:bodyPr wrap="square" anchor="t">
            <a:normAutofit/>
          </a:bodyPr>
          <a:lstStyle/>
          <a:p>
            <a:pPr algn="l"/>
            <a:r>
              <a:rPr lang="en-US" sz="850" dirty="0">
                <a:solidFill>
                  <a:srgbClr val="D6E4F0"/>
                </a:solidFill>
              </a:rPr>
              <a:t>Engine, gear and seat each appear in all 28,000</a:t>
            </a:r>
          </a:p>
          <a:p>
            <a:pPr algn="l"/>
            <a:r>
              <a:rPr lang="en-US" sz="850" dirty="0">
                <a:solidFill>
                  <a:srgbClr val="D6E4F0"/>
                </a:solidFill>
              </a:rPr>
              <a:t>car products. Battery in only 10.7% of vehicles.</a:t>
            </a:r>
          </a:p>
        </p:txBody>
      </p:sp>
      <p:sp>
        <p:nvSpPr>
          <p:cNvPr id="28" name="card"/>
          <p:cNvSpPr/>
          <p:nvPr/>
        </p:nvSpPr>
        <p:spPr>
          <a:xfrm>
            <a:off x="4608576" y="914400"/>
            <a:ext cx="2048256" cy="1810512"/>
          </a:xfrm>
          <a:prstGeom prst="rect">
            <a:avLst/>
          </a:prstGeom>
          <a:solidFill>
            <a:srgbClr val="112233"/>
          </a:solidFill>
          <a:ln w="7620">
            <a:solidFill>
              <a:srgbClr val="F4A261"/>
            </a:solidFill>
          </a:ln>
        </p:spPr>
        <p:txBody>
          <a:bodyPr/>
          <a:lstStyle/>
          <a:p>
            <a:endParaRPr/>
          </a:p>
        </p:txBody>
      </p:sp>
      <p:sp>
        <p:nvSpPr>
          <p:cNvPr id="29" name="hdr"/>
          <p:cNvSpPr/>
          <p:nvPr/>
        </p:nvSpPr>
        <p:spPr>
          <a:xfrm>
            <a:off x="4608576" y="914400"/>
            <a:ext cx="2048256" cy="292608"/>
          </a:xfrm>
          <a:prstGeom prst="rect">
            <a:avLst/>
          </a:prstGeom>
          <a:solidFill>
            <a:srgbClr val="F4A261"/>
          </a:solidFill>
          <a:ln w="9525">
            <a:solidFill>
              <a:srgbClr val="F4A261"/>
            </a:solidFill>
          </a:ln>
        </p:spPr>
        <p:txBody>
          <a:bodyPr/>
          <a:lstStyle/>
          <a:p>
            <a:endParaRPr/>
          </a:p>
        </p:txBody>
      </p:sp>
      <p:sp>
        <p:nvSpPr>
          <p:cNvPr id="30" name="lbl"/>
          <p:cNvSpPr>
            <a:spLocks noGrp="1"/>
          </p:cNvSpPr>
          <p:nvPr/>
        </p:nvSpPr>
        <p:spPr>
          <a:xfrm>
            <a:off x="4681728" y="914400"/>
            <a:ext cx="1901952" cy="292608"/>
          </a:xfrm>
          <a:prstGeom prst="rect">
            <a:avLst/>
          </a:prstGeom>
          <a:noFill/>
        </p:spPr>
        <p:txBody>
          <a:bodyPr wrap="square" anchor="ctr">
            <a:normAutofit/>
          </a:bodyPr>
          <a:lstStyle/>
          <a:p>
            <a:pPr algn="l"/>
            <a:r>
              <a:rPr lang="en-US" sz="800" dirty="0">
                <a:solidFill>
                  <a:srgbClr val="FFFFFF"/>
                </a:solidFill>
              </a:rPr>
              <a:t>EDA 5: Lead Time Risk</a:t>
            </a:r>
          </a:p>
        </p:txBody>
      </p:sp>
      <p:sp>
        <p:nvSpPr>
          <p:cNvPr id="31" name="body"/>
          <p:cNvSpPr>
            <a:spLocks noGrp="1"/>
          </p:cNvSpPr>
          <p:nvPr/>
        </p:nvSpPr>
        <p:spPr>
          <a:xfrm>
            <a:off x="4700016" y="1261872"/>
            <a:ext cx="1865376" cy="1389888"/>
          </a:xfrm>
          <a:prstGeom prst="rect">
            <a:avLst/>
          </a:prstGeom>
          <a:noFill/>
        </p:spPr>
        <p:txBody>
          <a:bodyPr wrap="square" anchor="t">
            <a:normAutofit/>
          </a:bodyPr>
          <a:lstStyle/>
          <a:p>
            <a:pPr algn="l"/>
            <a:r>
              <a:rPr lang="en-US" sz="850" dirty="0">
                <a:solidFill>
                  <a:srgbClr val="D6E4F0"/>
                </a:solidFill>
              </a:rPr>
              <a:t>Seat transit: 23-day lead time.</a:t>
            </a:r>
          </a:p>
          <a:p>
            <a:pPr algn="l"/>
            <a:r>
              <a:rPr lang="en-US" sz="850" dirty="0">
                <a:solidFill>
                  <a:srgbClr val="D6E4F0"/>
                </a:solidFill>
              </a:rPr>
              <a:t>Battery transit: 20 days.</a:t>
            </a:r>
          </a:p>
          <a:p>
            <a:pPr algn="l"/>
            <a:r>
              <a:rPr lang="en-US" sz="850" dirty="0">
                <a:solidFill>
                  <a:srgbClr val="D6E4F0"/>
                </a:solidFill>
              </a:rPr>
              <a:t>All other routes are 2 days or less.</a:t>
            </a:r>
          </a:p>
        </p:txBody>
      </p:sp>
      <p:sp>
        <p:nvSpPr>
          <p:cNvPr id="32" name="card"/>
          <p:cNvSpPr/>
          <p:nvPr/>
        </p:nvSpPr>
        <p:spPr>
          <a:xfrm>
            <a:off x="6784848" y="914400"/>
            <a:ext cx="2048256" cy="1810512"/>
          </a:xfrm>
          <a:prstGeom prst="rect">
            <a:avLst/>
          </a:prstGeom>
          <a:solidFill>
            <a:srgbClr val="112233"/>
          </a:solidFill>
          <a:ln w="7620">
            <a:solidFill>
              <a:srgbClr val="F4A261"/>
            </a:solidFill>
          </a:ln>
        </p:spPr>
        <p:txBody>
          <a:bodyPr/>
          <a:lstStyle/>
          <a:p>
            <a:endParaRPr/>
          </a:p>
        </p:txBody>
      </p:sp>
      <p:sp>
        <p:nvSpPr>
          <p:cNvPr id="33" name="hdr"/>
          <p:cNvSpPr/>
          <p:nvPr/>
        </p:nvSpPr>
        <p:spPr>
          <a:xfrm>
            <a:off x="6784848" y="914400"/>
            <a:ext cx="2048256" cy="292608"/>
          </a:xfrm>
          <a:prstGeom prst="rect">
            <a:avLst/>
          </a:prstGeom>
          <a:solidFill>
            <a:srgbClr val="F4A261"/>
          </a:solidFill>
          <a:ln w="9525">
            <a:solidFill>
              <a:srgbClr val="F4A261"/>
            </a:solidFill>
          </a:ln>
        </p:spPr>
        <p:txBody>
          <a:bodyPr/>
          <a:lstStyle/>
          <a:p>
            <a:endParaRPr/>
          </a:p>
        </p:txBody>
      </p:sp>
      <p:sp>
        <p:nvSpPr>
          <p:cNvPr id="34" name="lbl"/>
          <p:cNvSpPr>
            <a:spLocks noGrp="1"/>
          </p:cNvSpPr>
          <p:nvPr/>
        </p:nvSpPr>
        <p:spPr>
          <a:xfrm>
            <a:off x="6858000" y="914400"/>
            <a:ext cx="1901952" cy="292608"/>
          </a:xfrm>
          <a:prstGeom prst="rect">
            <a:avLst/>
          </a:prstGeom>
          <a:noFill/>
        </p:spPr>
        <p:txBody>
          <a:bodyPr wrap="square" anchor="ctr">
            <a:normAutofit/>
          </a:bodyPr>
          <a:lstStyle/>
          <a:p>
            <a:pPr algn="l"/>
            <a:r>
              <a:rPr lang="en-US" sz="800" dirty="0">
                <a:solidFill>
                  <a:srgbClr val="FFFFFF"/>
                </a:solidFill>
              </a:rPr>
              <a:t>EDA 6: Hidden Timeline</a:t>
            </a:r>
          </a:p>
        </p:txBody>
      </p:sp>
      <p:sp>
        <p:nvSpPr>
          <p:cNvPr id="35" name="body"/>
          <p:cNvSpPr>
            <a:spLocks noGrp="1"/>
          </p:cNvSpPr>
          <p:nvPr/>
        </p:nvSpPr>
        <p:spPr>
          <a:xfrm>
            <a:off x="6876288" y="1261872"/>
            <a:ext cx="1865376" cy="1389888"/>
          </a:xfrm>
          <a:prstGeom prst="rect">
            <a:avLst/>
          </a:prstGeom>
          <a:noFill/>
        </p:spPr>
        <p:txBody>
          <a:bodyPr wrap="square" anchor="t">
            <a:normAutofit/>
          </a:bodyPr>
          <a:lstStyle/>
          <a:p>
            <a:pPr algn="l"/>
            <a:r>
              <a:rPr lang="en-US" sz="850" dirty="0">
                <a:solidFill>
                  <a:srgbClr val="D6E4F0"/>
                </a:solidFill>
              </a:rPr>
              <a:t>Pipeline stock ordered 22 days ago still arriving.</a:t>
            </a:r>
          </a:p>
          <a:p>
            <a:pPr algn="l"/>
            <a:r>
              <a:rPr lang="en-US" sz="850" dirty="0">
                <a:solidFill>
                  <a:srgbClr val="D6E4F0"/>
                </a:solidFill>
              </a:rPr>
              <a:t>Days 1-4 of the plan are already on autopilot.</a:t>
            </a:r>
          </a:p>
        </p:txBody>
      </p:sp>
      <p:sp>
        <p:nvSpPr>
          <p:cNvPr id="36" name="card"/>
          <p:cNvSpPr/>
          <p:nvPr/>
        </p:nvSpPr>
        <p:spPr>
          <a:xfrm>
            <a:off x="256032" y="2852928"/>
            <a:ext cx="2048256" cy="1810512"/>
          </a:xfrm>
          <a:prstGeom prst="rect">
            <a:avLst/>
          </a:prstGeom>
          <a:solidFill>
            <a:srgbClr val="112233"/>
          </a:solidFill>
          <a:ln w="7620">
            <a:solidFill>
              <a:srgbClr val="E63946"/>
            </a:solidFill>
          </a:ln>
        </p:spPr>
        <p:txBody>
          <a:bodyPr/>
          <a:lstStyle/>
          <a:p>
            <a:endParaRPr/>
          </a:p>
        </p:txBody>
      </p:sp>
      <p:sp>
        <p:nvSpPr>
          <p:cNvPr id="37" name="hdr"/>
          <p:cNvSpPr/>
          <p:nvPr/>
        </p:nvSpPr>
        <p:spPr>
          <a:xfrm>
            <a:off x="256032" y="2852928"/>
            <a:ext cx="2048256" cy="292608"/>
          </a:xfrm>
          <a:prstGeom prst="rect">
            <a:avLst/>
          </a:prstGeom>
          <a:solidFill>
            <a:srgbClr val="E63946"/>
          </a:solidFill>
          <a:ln w="9525">
            <a:solidFill>
              <a:srgbClr val="E63946"/>
            </a:solidFill>
          </a:ln>
        </p:spPr>
        <p:txBody>
          <a:bodyPr/>
          <a:lstStyle/>
          <a:p>
            <a:endParaRPr/>
          </a:p>
        </p:txBody>
      </p:sp>
      <p:sp>
        <p:nvSpPr>
          <p:cNvPr id="38" name="lbl"/>
          <p:cNvSpPr>
            <a:spLocks noGrp="1"/>
          </p:cNvSpPr>
          <p:nvPr/>
        </p:nvSpPr>
        <p:spPr>
          <a:xfrm>
            <a:off x="329184" y="2852928"/>
            <a:ext cx="1901952" cy="292608"/>
          </a:xfrm>
          <a:prstGeom prst="rect">
            <a:avLst/>
          </a:prstGeom>
          <a:noFill/>
        </p:spPr>
        <p:txBody>
          <a:bodyPr wrap="square" anchor="ctr">
            <a:normAutofit/>
          </a:bodyPr>
          <a:lstStyle/>
          <a:p>
            <a:pPr algn="l"/>
            <a:r>
              <a:rPr lang="en-US" sz="800" dirty="0">
                <a:solidFill>
                  <a:srgbClr val="FFFFFF"/>
                </a:solidFill>
              </a:rPr>
              <a:t>EDA 7: Lane Capacity</a:t>
            </a:r>
          </a:p>
        </p:txBody>
      </p:sp>
      <p:sp>
        <p:nvSpPr>
          <p:cNvPr id="39" name="body"/>
          <p:cNvSpPr>
            <a:spLocks noGrp="1"/>
          </p:cNvSpPr>
          <p:nvPr/>
        </p:nvSpPr>
        <p:spPr>
          <a:xfrm>
            <a:off x="347472" y="3200400"/>
            <a:ext cx="1865376" cy="1389888"/>
          </a:xfrm>
          <a:prstGeom prst="rect">
            <a:avLst/>
          </a:prstGeom>
          <a:noFill/>
        </p:spPr>
        <p:txBody>
          <a:bodyPr wrap="square" anchor="t">
            <a:normAutofit/>
          </a:bodyPr>
          <a:lstStyle/>
          <a:p>
            <a:pPr algn="l"/>
            <a:r>
              <a:rPr lang="en-US" sz="850" dirty="0">
                <a:solidFill>
                  <a:srgbClr val="D6E4F0"/>
                </a:solidFill>
              </a:rPr>
              <a:t>Battery production capped at 294 units/week</a:t>
            </a:r>
          </a:p>
          <a:p>
            <a:pPr algn="l"/>
            <a:r>
              <a:rPr lang="en-US" sz="850" dirty="0">
                <a:solidFill>
                  <a:srgbClr val="D6E4F0"/>
                </a:solidFill>
              </a:rPr>
              <a:t>— 7x lower than all other routes at 2,100.</a:t>
            </a:r>
          </a:p>
        </p:txBody>
      </p:sp>
      <p:sp>
        <p:nvSpPr>
          <p:cNvPr id="40" name="card"/>
          <p:cNvSpPr/>
          <p:nvPr/>
        </p:nvSpPr>
        <p:spPr>
          <a:xfrm>
            <a:off x="2432304" y="2852928"/>
            <a:ext cx="2048256" cy="1810512"/>
          </a:xfrm>
          <a:prstGeom prst="rect">
            <a:avLst/>
          </a:prstGeom>
          <a:solidFill>
            <a:srgbClr val="112233"/>
          </a:solidFill>
          <a:ln w="7620">
            <a:solidFill>
              <a:srgbClr val="E63946"/>
            </a:solidFill>
          </a:ln>
        </p:spPr>
        <p:txBody>
          <a:bodyPr/>
          <a:lstStyle/>
          <a:p>
            <a:endParaRPr/>
          </a:p>
        </p:txBody>
      </p:sp>
      <p:sp>
        <p:nvSpPr>
          <p:cNvPr id="41" name="hdr"/>
          <p:cNvSpPr/>
          <p:nvPr/>
        </p:nvSpPr>
        <p:spPr>
          <a:xfrm>
            <a:off x="2432304" y="2852928"/>
            <a:ext cx="2048256" cy="292608"/>
          </a:xfrm>
          <a:prstGeom prst="rect">
            <a:avLst/>
          </a:prstGeom>
          <a:solidFill>
            <a:srgbClr val="E63946"/>
          </a:solidFill>
          <a:ln w="9525">
            <a:solidFill>
              <a:srgbClr val="E63946"/>
            </a:solidFill>
          </a:ln>
        </p:spPr>
        <p:txBody>
          <a:bodyPr/>
          <a:lstStyle/>
          <a:p>
            <a:endParaRPr/>
          </a:p>
        </p:txBody>
      </p:sp>
      <p:sp>
        <p:nvSpPr>
          <p:cNvPr id="42" name="lbl"/>
          <p:cNvSpPr>
            <a:spLocks noGrp="1"/>
          </p:cNvSpPr>
          <p:nvPr/>
        </p:nvSpPr>
        <p:spPr>
          <a:xfrm>
            <a:off x="2505456" y="2852928"/>
            <a:ext cx="1901952" cy="292608"/>
          </a:xfrm>
          <a:prstGeom prst="rect">
            <a:avLst/>
          </a:prstGeom>
          <a:noFill/>
        </p:spPr>
        <p:txBody>
          <a:bodyPr wrap="square" anchor="ctr">
            <a:normAutofit/>
          </a:bodyPr>
          <a:lstStyle/>
          <a:p>
            <a:pPr algn="l"/>
            <a:r>
              <a:rPr lang="en-US" sz="800" dirty="0">
                <a:solidFill>
                  <a:srgbClr val="FFFFFF"/>
                </a:solidFill>
              </a:rPr>
              <a:t>EDA 8-9: Buffer &amp; Pipeline</a:t>
            </a:r>
          </a:p>
        </p:txBody>
      </p:sp>
      <p:sp>
        <p:nvSpPr>
          <p:cNvPr id="43" name="body"/>
          <p:cNvSpPr>
            <a:spLocks noGrp="1"/>
          </p:cNvSpPr>
          <p:nvPr/>
        </p:nvSpPr>
        <p:spPr>
          <a:xfrm>
            <a:off x="2523744" y="3200400"/>
            <a:ext cx="1865376" cy="1389888"/>
          </a:xfrm>
          <a:prstGeom prst="rect">
            <a:avLst/>
          </a:prstGeom>
          <a:noFill/>
        </p:spPr>
        <p:txBody>
          <a:bodyPr wrap="square" anchor="t">
            <a:normAutofit/>
          </a:bodyPr>
          <a:lstStyle/>
          <a:p>
            <a:pPr algn="l"/>
            <a:r>
              <a:rPr lang="en-US" sz="850" dirty="0">
                <a:solidFill>
                  <a:srgbClr val="D6E4F0"/>
                </a:solidFill>
              </a:rPr>
              <a:t>ZP7 holds most opening stock. Seat (56,000)</a:t>
            </a:r>
          </a:p>
          <a:p>
            <a:pPr algn="l"/>
            <a:r>
              <a:rPr lang="en-US" sz="850" dirty="0">
                <a:solidFill>
                  <a:srgbClr val="D6E4F0"/>
                </a:solidFill>
              </a:rPr>
              <a:t>and battery (35,860) pipeline locked before week 1.</a:t>
            </a:r>
          </a:p>
        </p:txBody>
      </p:sp>
      <p:sp>
        <p:nvSpPr>
          <p:cNvPr id="44" name="card"/>
          <p:cNvSpPr/>
          <p:nvPr/>
        </p:nvSpPr>
        <p:spPr>
          <a:xfrm>
            <a:off x="4608576" y="2852928"/>
            <a:ext cx="2048256" cy="1810512"/>
          </a:xfrm>
          <a:prstGeom prst="rect">
            <a:avLst/>
          </a:prstGeom>
          <a:solidFill>
            <a:srgbClr val="112233"/>
          </a:solidFill>
          <a:ln w="7620">
            <a:solidFill>
              <a:srgbClr val="7B5EA7"/>
            </a:solidFill>
          </a:ln>
        </p:spPr>
        <p:txBody>
          <a:bodyPr/>
          <a:lstStyle/>
          <a:p>
            <a:endParaRPr/>
          </a:p>
        </p:txBody>
      </p:sp>
      <p:sp>
        <p:nvSpPr>
          <p:cNvPr id="45" name="hdr"/>
          <p:cNvSpPr/>
          <p:nvPr/>
        </p:nvSpPr>
        <p:spPr>
          <a:xfrm>
            <a:off x="4608576" y="2852928"/>
            <a:ext cx="2048256" cy="292608"/>
          </a:xfrm>
          <a:prstGeom prst="rect">
            <a:avLst/>
          </a:prstGeom>
          <a:solidFill>
            <a:srgbClr val="7B5EA7"/>
          </a:solidFill>
          <a:ln w="9525">
            <a:solidFill>
              <a:srgbClr val="7B5EA7"/>
            </a:solidFill>
          </a:ln>
        </p:spPr>
        <p:txBody>
          <a:bodyPr/>
          <a:lstStyle/>
          <a:p>
            <a:endParaRPr/>
          </a:p>
        </p:txBody>
      </p:sp>
      <p:sp>
        <p:nvSpPr>
          <p:cNvPr id="46" name="lbl"/>
          <p:cNvSpPr>
            <a:spLocks noGrp="1"/>
          </p:cNvSpPr>
          <p:nvPr/>
        </p:nvSpPr>
        <p:spPr>
          <a:xfrm>
            <a:off x="4681728" y="2852928"/>
            <a:ext cx="1901952" cy="292608"/>
          </a:xfrm>
          <a:prstGeom prst="rect">
            <a:avLst/>
          </a:prstGeom>
          <a:noFill/>
        </p:spPr>
        <p:txBody>
          <a:bodyPr wrap="square" anchor="ctr">
            <a:normAutofit/>
          </a:bodyPr>
          <a:lstStyle/>
          <a:p>
            <a:pPr algn="l"/>
            <a:r>
              <a:rPr lang="en-US" sz="800" dirty="0">
                <a:solidFill>
                  <a:srgbClr val="FFFFFF"/>
                </a:solidFill>
              </a:rPr>
              <a:t>EDA 10: Downstream Impact</a:t>
            </a:r>
          </a:p>
        </p:txBody>
      </p:sp>
      <p:sp>
        <p:nvSpPr>
          <p:cNvPr id="47" name="body"/>
          <p:cNvSpPr>
            <a:spLocks noGrp="1"/>
          </p:cNvSpPr>
          <p:nvPr/>
        </p:nvSpPr>
        <p:spPr>
          <a:xfrm>
            <a:off x="4700016" y="3200400"/>
            <a:ext cx="1865376" cy="1389888"/>
          </a:xfrm>
          <a:prstGeom prst="rect">
            <a:avLst/>
          </a:prstGeom>
          <a:noFill/>
        </p:spPr>
        <p:txBody>
          <a:bodyPr wrap="square" anchor="t">
            <a:normAutofit/>
          </a:bodyPr>
          <a:lstStyle/>
          <a:p>
            <a:pPr algn="l"/>
            <a:r>
              <a:rPr lang="en-US" sz="850" dirty="0">
                <a:solidFill>
                  <a:srgbClr val="D6E4F0"/>
                </a:solidFill>
              </a:rPr>
              <a:t>Seat sub-components affect 42.99% of car portfolio.</a:t>
            </a:r>
          </a:p>
          <a:p>
            <a:pPr algn="l"/>
            <a:r>
              <a:rPr lang="en-US" sz="850" dirty="0">
                <a:solidFill>
                  <a:srgbClr val="D6E4F0"/>
                </a:solidFill>
              </a:rPr>
              <a:t>Engine, gear and seat = 100% fleet exposure.</a:t>
            </a:r>
          </a:p>
        </p:txBody>
      </p:sp>
      <p:sp>
        <p:nvSpPr>
          <p:cNvPr id="99" name="footer"/>
          <p:cNvSpPr>
            <a:spLocks noGrp="1"/>
          </p:cNvSpPr>
          <p:nvPr/>
        </p:nvSpPr>
        <p:spPr>
          <a:xfrm>
            <a:off x="0" y="4992624"/>
            <a:ext cx="9144000" cy="155448"/>
          </a:xfrm>
          <a:prstGeom prst="rect">
            <a:avLst/>
          </a:prstGeom>
          <a:noFill/>
        </p:spPr>
        <p:txBody>
          <a:bodyPr wrap="square" anchor="t">
            <a:normAutofit/>
          </a:bodyPr>
          <a:lstStyle/>
          <a:p>
            <a:pPr algn="ctr"/>
            <a:r>
              <a:rPr lang="en-US" sz="700" dirty="0">
                <a:solidFill>
                  <a:srgbClr val="7B96B2"/>
                </a:solidFill>
              </a:rPr>
              <a:t>Moetz et al. (2020)  ·  Neo4j Graph Data Science  ·  Spring 2026 Capstone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bg"/>
          <p:cNvSpPr/>
          <p:nvPr/>
        </p:nvSpPr>
        <p:spPr>
          <a:xfrm>
            <a:off x="0" y="0"/>
            <a:ext cx="9144000" cy="5143500"/>
          </a:xfrm>
          <a:prstGeom prst="rect">
            <a:avLst/>
          </a:prstGeom>
          <a:solidFill>
            <a:srgbClr val="0D1B2A"/>
          </a:solidFill>
        </p:spPr>
        <p:txBody>
          <a:bodyPr/>
          <a:lstStyle/>
          <a:p>
            <a:endParaRPr/>
          </a:p>
        </p:txBody>
      </p:sp>
      <p:sp>
        <p:nvSpPr>
          <p:cNvPr id="11" name="title"/>
          <p:cNvSpPr>
            <a:spLocks noGrp="1"/>
          </p:cNvSpPr>
          <p:nvPr/>
        </p:nvSpPr>
        <p:spPr>
          <a:xfrm>
            <a:off x="365760" y="109728"/>
            <a:ext cx="8412480" cy="438912"/>
          </a:xfrm>
          <a:prstGeom prst="rect">
            <a:avLst/>
          </a:prstGeom>
          <a:noFill/>
        </p:spPr>
        <p:txBody>
          <a:bodyPr wrap="square" anchor="t">
            <a:normAutofit/>
          </a:bodyPr>
          <a:lstStyle/>
          <a:p>
            <a:pPr algn="l"/>
            <a:r>
              <a:rPr lang="en-US" sz="2000" dirty="0">
                <a:solidFill>
                  <a:srgbClr val="FFFFFF"/>
                </a:solidFill>
              </a:rPr>
              <a:t>Analytical Questions Recap — From Awareness to Precision</a:t>
            </a:r>
          </a:p>
        </p:txBody>
      </p:sp>
      <p:sp>
        <p:nvSpPr>
          <p:cNvPr id="12" name="sub"/>
          <p:cNvSpPr>
            <a:spLocks noGrp="1"/>
          </p:cNvSpPr>
          <p:nvPr/>
        </p:nvSpPr>
        <p:spPr>
          <a:xfrm>
            <a:off x="365760" y="566928"/>
            <a:ext cx="8412480" cy="237744"/>
          </a:xfrm>
          <a:prstGeom prst="rect">
            <a:avLst/>
          </a:prstGeom>
          <a:noFill/>
        </p:spPr>
        <p:txBody>
          <a:bodyPr wrap="square" anchor="t">
            <a:normAutofit/>
          </a:bodyPr>
          <a:lstStyle/>
          <a:p>
            <a:pPr algn="l"/>
            <a:r>
              <a:rPr lang="en-US" sz="900" dirty="0">
                <a:solidFill>
                  <a:srgbClr val="7B96B2"/>
                </a:solidFill>
              </a:rPr>
              <a:t>3 strategic questions combining multiple signals — going beyond EDA to produce actionable ranked outputs</a:t>
            </a:r>
          </a:p>
        </p:txBody>
      </p:sp>
      <p:sp>
        <p:nvSpPr>
          <p:cNvPr id="20" name="card"/>
          <p:cNvSpPr/>
          <p:nvPr/>
        </p:nvSpPr>
        <p:spPr>
          <a:xfrm>
            <a:off x="256032" y="914400"/>
            <a:ext cx="2779776" cy="3913632"/>
          </a:xfrm>
          <a:prstGeom prst="rect">
            <a:avLst/>
          </a:prstGeom>
          <a:solidFill>
            <a:srgbClr val="112233"/>
          </a:solidFill>
          <a:ln w="9525">
            <a:solidFill>
              <a:srgbClr val="00B4D8"/>
            </a:solidFill>
          </a:ln>
        </p:spPr>
        <p:txBody>
          <a:bodyPr/>
          <a:lstStyle/>
          <a:p>
            <a:endParaRPr/>
          </a:p>
        </p:txBody>
      </p:sp>
      <p:sp>
        <p:nvSpPr>
          <p:cNvPr id="21" name="hdr"/>
          <p:cNvSpPr/>
          <p:nvPr/>
        </p:nvSpPr>
        <p:spPr>
          <a:xfrm>
            <a:off x="256032" y="914400"/>
            <a:ext cx="2779776" cy="310896"/>
          </a:xfrm>
          <a:prstGeom prst="rect">
            <a:avLst/>
          </a:prstGeom>
          <a:solidFill>
            <a:srgbClr val="00B4D8"/>
          </a:solidFill>
          <a:ln w="9525">
            <a:solidFill>
              <a:srgbClr val="00B4D8"/>
            </a:solidFill>
          </a:ln>
        </p:spPr>
        <p:txBody>
          <a:bodyPr/>
          <a:lstStyle/>
          <a:p>
            <a:endParaRPr/>
          </a:p>
        </p:txBody>
      </p:sp>
      <p:sp>
        <p:nvSpPr>
          <p:cNvPr id="22" name="lbl"/>
          <p:cNvSpPr>
            <a:spLocks noGrp="1"/>
          </p:cNvSpPr>
          <p:nvPr/>
        </p:nvSpPr>
        <p:spPr>
          <a:xfrm>
            <a:off x="347472" y="914400"/>
            <a:ext cx="2596896" cy="310896"/>
          </a:xfrm>
          <a:prstGeom prst="rect">
            <a:avLst/>
          </a:prstGeom>
          <a:noFill/>
        </p:spPr>
        <p:txBody>
          <a:bodyPr wrap="square" anchor="ctr">
            <a:normAutofit/>
          </a:bodyPr>
          <a:lstStyle/>
          <a:p>
            <a:pPr algn="l"/>
            <a:r>
              <a:rPr lang="en-US" sz="900" dirty="0">
                <a:solidFill>
                  <a:srgbClr val="FFFFFF"/>
                </a:solidFill>
              </a:rPr>
              <a:t>AQ 1: Component Concentration Risk</a:t>
            </a:r>
          </a:p>
        </p:txBody>
      </p:sp>
      <p:sp>
        <p:nvSpPr>
          <p:cNvPr id="23" name="qbg"/>
          <p:cNvSpPr/>
          <p:nvPr/>
        </p:nvSpPr>
        <p:spPr>
          <a:xfrm>
            <a:off x="347472" y="1298448"/>
            <a:ext cx="2596896" cy="658368"/>
          </a:xfrm>
          <a:prstGeom prst="rect">
            <a:avLst/>
          </a:prstGeom>
          <a:solidFill>
            <a:srgbClr val="0A1628"/>
          </a:solidFill>
          <a:ln w="9525">
            <a:solidFill>
              <a:srgbClr val="0A1628"/>
            </a:solidFill>
          </a:ln>
        </p:spPr>
        <p:txBody>
          <a:bodyPr/>
          <a:lstStyle/>
          <a:p>
            <a:endParaRPr/>
          </a:p>
        </p:txBody>
      </p:sp>
      <p:sp>
        <p:nvSpPr>
          <p:cNvPr id="24" name="qtxt"/>
          <p:cNvSpPr>
            <a:spLocks noGrp="1"/>
          </p:cNvSpPr>
          <p:nvPr/>
        </p:nvSpPr>
        <p:spPr>
          <a:xfrm>
            <a:off x="420624" y="1335024"/>
            <a:ext cx="2450592" cy="603504"/>
          </a:xfrm>
          <a:prstGeom prst="rect">
            <a:avLst/>
          </a:prstGeom>
          <a:noFill/>
        </p:spPr>
        <p:txBody>
          <a:bodyPr wrap="square" anchor="t">
            <a:normAutofit/>
          </a:bodyPr>
          <a:lstStyle/>
          <a:p>
            <a:pPr algn="l"/>
            <a:r>
              <a:rPr lang="en-US" sz="825" dirty="0">
                <a:solidFill>
                  <a:srgbClr val="F4A261"/>
                </a:solidFill>
              </a:rPr>
              <a:t>Which BOM components have the largest downstream disruption impact if disrupted?</a:t>
            </a:r>
          </a:p>
        </p:txBody>
      </p:sp>
      <p:sp>
        <p:nvSpPr>
          <p:cNvPr id="25" name="body"/>
          <p:cNvSpPr>
            <a:spLocks noGrp="1"/>
          </p:cNvSpPr>
          <p:nvPr/>
        </p:nvSpPr>
        <p:spPr>
          <a:xfrm>
            <a:off x="384048" y="2029968"/>
            <a:ext cx="2523744" cy="2688336"/>
          </a:xfrm>
          <a:prstGeom prst="rect">
            <a:avLst/>
          </a:prstGeom>
          <a:noFill/>
        </p:spPr>
        <p:txBody>
          <a:bodyPr wrap="square" anchor="t">
            <a:normAutofit/>
          </a:bodyPr>
          <a:lstStyle/>
          <a:p>
            <a:pPr algn="l"/>
            <a:r>
              <a:rPr lang="en-US" sz="900" dirty="0">
                <a:solidFill>
                  <a:srgbClr val="D6E4F0"/>
                </a:solidFill>
              </a:rPr>
              <a:t>componment_seat2: 12,039 upstream products,</a:t>
            </a:r>
          </a:p>
          <a:p>
            <a:pPr algn="l"/>
            <a:r>
              <a:rPr lang="en-US" sz="900" dirty="0">
                <a:solidFill>
                  <a:srgbClr val="D6E4F0"/>
                </a:solidFill>
              </a:rPr>
              <a:t>48,156 dependency paths — largest BOM hub.</a:t>
            </a:r>
          </a:p>
          <a:p>
            <a:pPr algn="l"/>
            <a:r>
              <a:rPr lang="en-US" sz="900" dirty="0">
                <a:solidFill>
                  <a:srgbClr val="D6E4F0"/>
                </a:solidFill>
              </a:rPr>
              <a:t>Seat family dominates top 4 positions.</a:t>
            </a:r>
          </a:p>
          <a:p>
            <a:pPr algn="l"/>
            <a:r>
              <a:rPr lang="en-US" sz="900" dirty="0">
                <a:solidFill>
                  <a:srgbClr val="D6E4F0"/>
                </a:solidFill>
              </a:rPr>
              <a:t>Gear components appear in top-10 but lower.</a:t>
            </a:r>
          </a:p>
        </p:txBody>
      </p:sp>
      <p:sp>
        <p:nvSpPr>
          <p:cNvPr id="26" name="card"/>
          <p:cNvSpPr/>
          <p:nvPr/>
        </p:nvSpPr>
        <p:spPr>
          <a:xfrm>
            <a:off x="3163824" y="914400"/>
            <a:ext cx="2779776" cy="3913632"/>
          </a:xfrm>
          <a:prstGeom prst="rect">
            <a:avLst/>
          </a:prstGeom>
          <a:solidFill>
            <a:srgbClr val="112233"/>
          </a:solidFill>
          <a:ln w="9525">
            <a:solidFill>
              <a:srgbClr val="F4A261"/>
            </a:solidFill>
          </a:ln>
        </p:spPr>
        <p:txBody>
          <a:bodyPr/>
          <a:lstStyle/>
          <a:p>
            <a:endParaRPr/>
          </a:p>
        </p:txBody>
      </p:sp>
      <p:sp>
        <p:nvSpPr>
          <p:cNvPr id="27" name="hdr"/>
          <p:cNvSpPr/>
          <p:nvPr/>
        </p:nvSpPr>
        <p:spPr>
          <a:xfrm>
            <a:off x="3163824" y="914400"/>
            <a:ext cx="2779776" cy="310896"/>
          </a:xfrm>
          <a:prstGeom prst="rect">
            <a:avLst/>
          </a:prstGeom>
          <a:solidFill>
            <a:srgbClr val="F4A261"/>
          </a:solidFill>
          <a:ln w="9525">
            <a:solidFill>
              <a:srgbClr val="F4A261"/>
            </a:solidFill>
          </a:ln>
        </p:spPr>
        <p:txBody>
          <a:bodyPr/>
          <a:lstStyle/>
          <a:p>
            <a:endParaRPr/>
          </a:p>
        </p:txBody>
      </p:sp>
      <p:sp>
        <p:nvSpPr>
          <p:cNvPr id="28" name="lbl"/>
          <p:cNvSpPr>
            <a:spLocks noGrp="1"/>
          </p:cNvSpPr>
          <p:nvPr/>
        </p:nvSpPr>
        <p:spPr>
          <a:xfrm>
            <a:off x="3255264" y="914400"/>
            <a:ext cx="2596896" cy="310896"/>
          </a:xfrm>
          <a:prstGeom prst="rect">
            <a:avLst/>
          </a:prstGeom>
          <a:noFill/>
        </p:spPr>
        <p:txBody>
          <a:bodyPr wrap="square" anchor="ctr">
            <a:normAutofit/>
          </a:bodyPr>
          <a:lstStyle/>
          <a:p>
            <a:pPr algn="l"/>
            <a:r>
              <a:rPr lang="en-US" sz="900" dirty="0">
                <a:solidFill>
                  <a:srgbClr val="FFFFFF"/>
                </a:solidFill>
              </a:rPr>
              <a:t>AQ 2: Arc Structural Fragility</a:t>
            </a:r>
          </a:p>
        </p:txBody>
      </p:sp>
      <p:sp>
        <p:nvSpPr>
          <p:cNvPr id="29" name="qbg"/>
          <p:cNvSpPr/>
          <p:nvPr/>
        </p:nvSpPr>
        <p:spPr>
          <a:xfrm>
            <a:off x="3255264" y="1298448"/>
            <a:ext cx="2596896" cy="658368"/>
          </a:xfrm>
          <a:prstGeom prst="rect">
            <a:avLst/>
          </a:prstGeom>
          <a:solidFill>
            <a:srgbClr val="0A1628"/>
          </a:solidFill>
          <a:ln w="9525">
            <a:solidFill>
              <a:srgbClr val="0A1628"/>
            </a:solidFill>
          </a:ln>
        </p:spPr>
        <p:txBody>
          <a:bodyPr/>
          <a:lstStyle/>
          <a:p>
            <a:endParaRPr/>
          </a:p>
        </p:txBody>
      </p:sp>
      <p:sp>
        <p:nvSpPr>
          <p:cNvPr id="30" name="qtxt"/>
          <p:cNvSpPr>
            <a:spLocks noGrp="1"/>
          </p:cNvSpPr>
          <p:nvPr/>
        </p:nvSpPr>
        <p:spPr>
          <a:xfrm>
            <a:off x="3328416" y="1335024"/>
            <a:ext cx="2450592" cy="603504"/>
          </a:xfrm>
          <a:prstGeom prst="rect">
            <a:avLst/>
          </a:prstGeom>
          <a:noFill/>
        </p:spPr>
        <p:txBody>
          <a:bodyPr wrap="square" anchor="t">
            <a:normAutofit/>
          </a:bodyPr>
          <a:lstStyle/>
          <a:p>
            <a:pPr algn="l"/>
            <a:r>
              <a:rPr lang="en-US" sz="825" dirty="0">
                <a:solidFill>
                  <a:srgbClr val="F4A261"/>
                </a:solidFill>
              </a:rPr>
              <a:t>Which supply routes are most exposed — lead time, capacity and buffer combined?</a:t>
            </a:r>
          </a:p>
        </p:txBody>
      </p:sp>
      <p:sp>
        <p:nvSpPr>
          <p:cNvPr id="31" name="body"/>
          <p:cNvSpPr>
            <a:spLocks noGrp="1"/>
          </p:cNvSpPr>
          <p:nvPr/>
        </p:nvSpPr>
        <p:spPr>
          <a:xfrm>
            <a:off x="3291840" y="2029968"/>
            <a:ext cx="2523744" cy="2688336"/>
          </a:xfrm>
          <a:prstGeom prst="rect">
            <a:avLst/>
          </a:prstGeom>
          <a:noFill/>
        </p:spPr>
        <p:txBody>
          <a:bodyPr wrap="square" anchor="t">
            <a:normAutofit/>
          </a:bodyPr>
          <a:lstStyle/>
          <a:p>
            <a:pPr algn="l"/>
            <a:r>
              <a:rPr lang="en-US" sz="900" dirty="0">
                <a:solidFill>
                  <a:srgbClr val="D6E4F0"/>
                </a:solidFill>
              </a:rPr>
              <a:t>seat-supplier_trans: highest fragility score</a:t>
            </a:r>
          </a:p>
          <a:p>
            <a:pPr algn="l"/>
            <a:r>
              <a:rPr lang="en-US" sz="900" dirty="0">
                <a:solidFill>
                  <a:srgbClr val="D6E4F0"/>
                </a:solidFill>
              </a:rPr>
              <a:t>23-day lead time, zero buffer at destination.</a:t>
            </a:r>
          </a:p>
          <a:p>
            <a:pPr algn="l"/>
            <a:r>
              <a:rPr lang="en-US" sz="900" dirty="0">
                <a:solidFill>
                  <a:srgbClr val="D6E4F0"/>
                </a:solidFill>
              </a:rPr>
              <a:t>battery-supplier_trans: second highest</a:t>
            </a:r>
          </a:p>
          <a:p>
            <a:pPr algn="l"/>
            <a:r>
              <a:rPr lang="en-US" sz="900" dirty="0">
                <a:solidFill>
                  <a:srgbClr val="D6E4F0"/>
                </a:solidFill>
              </a:rPr>
              <a:t>20-day lead, 294 unit/week capacity ceiling.</a:t>
            </a:r>
          </a:p>
        </p:txBody>
      </p:sp>
      <p:sp>
        <p:nvSpPr>
          <p:cNvPr id="32" name="card"/>
          <p:cNvSpPr/>
          <p:nvPr/>
        </p:nvSpPr>
        <p:spPr>
          <a:xfrm>
            <a:off x="6071616" y="914400"/>
            <a:ext cx="2779776" cy="3913632"/>
          </a:xfrm>
          <a:prstGeom prst="rect">
            <a:avLst/>
          </a:prstGeom>
          <a:solidFill>
            <a:srgbClr val="112233"/>
          </a:solidFill>
          <a:ln w="9525">
            <a:solidFill>
              <a:srgbClr val="7B5EA7"/>
            </a:solidFill>
          </a:ln>
        </p:spPr>
        <p:txBody>
          <a:bodyPr/>
          <a:lstStyle/>
          <a:p>
            <a:endParaRPr/>
          </a:p>
        </p:txBody>
      </p:sp>
      <p:sp>
        <p:nvSpPr>
          <p:cNvPr id="33" name="hdr"/>
          <p:cNvSpPr/>
          <p:nvPr/>
        </p:nvSpPr>
        <p:spPr>
          <a:xfrm>
            <a:off x="6071616" y="914400"/>
            <a:ext cx="2779776" cy="310896"/>
          </a:xfrm>
          <a:prstGeom prst="rect">
            <a:avLst/>
          </a:prstGeom>
          <a:solidFill>
            <a:srgbClr val="7B5EA7"/>
          </a:solidFill>
          <a:ln w="9525">
            <a:solidFill>
              <a:srgbClr val="7B5EA7"/>
            </a:solidFill>
          </a:ln>
        </p:spPr>
        <p:txBody>
          <a:bodyPr/>
          <a:lstStyle/>
          <a:p>
            <a:endParaRPr/>
          </a:p>
        </p:txBody>
      </p:sp>
      <p:sp>
        <p:nvSpPr>
          <p:cNvPr id="34" name="lbl"/>
          <p:cNvSpPr>
            <a:spLocks noGrp="1"/>
          </p:cNvSpPr>
          <p:nvPr/>
        </p:nvSpPr>
        <p:spPr>
          <a:xfrm>
            <a:off x="6163056" y="914400"/>
            <a:ext cx="2596896" cy="310896"/>
          </a:xfrm>
          <a:prstGeom prst="rect">
            <a:avLst/>
          </a:prstGeom>
          <a:noFill/>
        </p:spPr>
        <p:txBody>
          <a:bodyPr wrap="square" anchor="ctr">
            <a:normAutofit/>
          </a:bodyPr>
          <a:lstStyle/>
          <a:p>
            <a:pPr algn="l"/>
            <a:r>
              <a:rPr lang="en-US" sz="900" dirty="0">
                <a:solidFill>
                  <a:srgbClr val="FFFFFF"/>
                </a:solidFill>
              </a:rPr>
              <a:t>AQ 3: Risk-Adjusted Priority</a:t>
            </a:r>
          </a:p>
        </p:txBody>
      </p:sp>
      <p:sp>
        <p:nvSpPr>
          <p:cNvPr id="35" name="qbg"/>
          <p:cNvSpPr/>
          <p:nvPr/>
        </p:nvSpPr>
        <p:spPr>
          <a:xfrm>
            <a:off x="6163056" y="1298448"/>
            <a:ext cx="2596896" cy="658368"/>
          </a:xfrm>
          <a:prstGeom prst="rect">
            <a:avLst/>
          </a:prstGeom>
          <a:solidFill>
            <a:srgbClr val="0A1628"/>
          </a:solidFill>
          <a:ln w="9525">
            <a:solidFill>
              <a:srgbClr val="0A1628"/>
            </a:solidFill>
          </a:ln>
        </p:spPr>
        <p:txBody>
          <a:bodyPr/>
          <a:lstStyle/>
          <a:p>
            <a:endParaRPr/>
          </a:p>
        </p:txBody>
      </p:sp>
      <p:sp>
        <p:nvSpPr>
          <p:cNvPr id="36" name="qtxt"/>
          <p:cNvSpPr>
            <a:spLocks noGrp="1"/>
          </p:cNvSpPr>
          <p:nvPr/>
        </p:nvSpPr>
        <p:spPr>
          <a:xfrm>
            <a:off x="6236208" y="1335024"/>
            <a:ext cx="2450592" cy="603504"/>
          </a:xfrm>
          <a:prstGeom prst="rect">
            <a:avLst/>
          </a:prstGeom>
          <a:noFill/>
        </p:spPr>
        <p:txBody>
          <a:bodyPr wrap="square" anchor="t">
            <a:normAutofit/>
          </a:bodyPr>
          <a:lstStyle/>
          <a:p>
            <a:pPr algn="l"/>
            <a:r>
              <a:rPr lang="en-US" sz="825" dirty="0">
                <a:solidFill>
                  <a:srgbClr val="F4A261"/>
                </a:solidFill>
              </a:rPr>
              <a:t>Which components to protect first — BOM reach, supplier count and route fragility combined?</a:t>
            </a:r>
          </a:p>
        </p:txBody>
      </p:sp>
      <p:sp>
        <p:nvSpPr>
          <p:cNvPr id="37" name="body"/>
          <p:cNvSpPr>
            <a:spLocks noGrp="1"/>
          </p:cNvSpPr>
          <p:nvPr/>
        </p:nvSpPr>
        <p:spPr>
          <a:xfrm>
            <a:off x="6199632" y="2029968"/>
            <a:ext cx="2523744" cy="2688336"/>
          </a:xfrm>
          <a:prstGeom prst="rect">
            <a:avLst/>
          </a:prstGeom>
          <a:noFill/>
        </p:spPr>
        <p:txBody>
          <a:bodyPr wrap="square" anchor="t">
            <a:normAutofit/>
          </a:bodyPr>
          <a:lstStyle/>
          <a:p>
            <a:pPr algn="l"/>
            <a:r>
              <a:rPr lang="en-US" sz="900" dirty="0">
                <a:solidFill>
                  <a:srgbClr val="D6E4F0"/>
                </a:solidFill>
              </a:rPr>
              <a:t>Seat sub-components rank highest: largest downstream impact</a:t>
            </a:r>
          </a:p>
          <a:p>
            <a:pPr algn="l"/>
            <a:r>
              <a:rPr lang="en-US" sz="900" dirty="0">
                <a:solidFill>
                  <a:srgbClr val="D6E4F0"/>
                </a:solidFill>
              </a:rPr>
              <a:t>radius + single-sourced + fragile transit routes.</a:t>
            </a:r>
          </a:p>
          <a:p>
            <a:pPr algn="l"/>
            <a:r>
              <a:rPr lang="en-US" sz="900" dirty="0">
                <a:solidFill>
                  <a:srgbClr val="D6E4F0"/>
                </a:solidFill>
              </a:rPr>
              <a:t>Battery moves up: 294-unit ceiling is a structural</a:t>
            </a:r>
          </a:p>
          <a:p>
            <a:pPr algn="l"/>
            <a:r>
              <a:rPr lang="en-US" sz="900" dirty="0">
                <a:solidFill>
                  <a:srgbClr val="D6E4F0"/>
                </a:solidFill>
              </a:rPr>
              <a:t>wall no planning decision alone can remove.</a:t>
            </a:r>
          </a:p>
        </p:txBody>
      </p:sp>
      <p:sp>
        <p:nvSpPr>
          <p:cNvPr id="80" name="tbar"/>
          <p:cNvSpPr/>
          <p:nvPr/>
        </p:nvSpPr>
        <p:spPr>
          <a:xfrm>
            <a:off x="256032" y="4590288"/>
            <a:ext cx="8631936" cy="292608"/>
          </a:xfrm>
          <a:prstGeom prst="rect">
            <a:avLst/>
          </a:prstGeom>
          <a:solidFill>
            <a:srgbClr val="0A1628"/>
          </a:solidFill>
          <a:ln w="7620">
            <a:solidFill>
              <a:srgbClr val="00B4D8"/>
            </a:solidFill>
          </a:ln>
        </p:spPr>
        <p:txBody>
          <a:bodyPr/>
          <a:lstStyle/>
          <a:p>
            <a:endParaRPr/>
          </a:p>
        </p:txBody>
      </p:sp>
      <p:sp>
        <p:nvSpPr>
          <p:cNvPr id="81" name="ttxt"/>
          <p:cNvSpPr>
            <a:spLocks noGrp="1"/>
          </p:cNvSpPr>
          <p:nvPr/>
        </p:nvSpPr>
        <p:spPr>
          <a:xfrm>
            <a:off x="402336" y="4590288"/>
            <a:ext cx="8321040" cy="292608"/>
          </a:xfrm>
          <a:prstGeom prst="rect">
            <a:avLst/>
          </a:prstGeom>
          <a:noFill/>
        </p:spPr>
        <p:txBody>
          <a:bodyPr wrap="square" anchor="ctr">
            <a:normAutofit/>
          </a:bodyPr>
          <a:lstStyle/>
          <a:p>
            <a:pPr algn="l"/>
            <a:r>
              <a:rPr lang="en-US" sz="875" dirty="0">
                <a:solidFill>
                  <a:srgbClr val="00B4D8"/>
                </a:solidFill>
              </a:rPr>
              <a:t>GDS now validates and extends all these findings across the entire 56,083-node network simultaneously</a:t>
            </a:r>
          </a:p>
        </p:txBody>
      </p:sp>
      <p:sp>
        <p:nvSpPr>
          <p:cNvPr id="99" name="footer"/>
          <p:cNvSpPr>
            <a:spLocks noGrp="1"/>
          </p:cNvSpPr>
          <p:nvPr/>
        </p:nvSpPr>
        <p:spPr>
          <a:xfrm>
            <a:off x="0" y="4992624"/>
            <a:ext cx="9144000" cy="155448"/>
          </a:xfrm>
          <a:prstGeom prst="rect">
            <a:avLst/>
          </a:prstGeom>
          <a:noFill/>
        </p:spPr>
        <p:txBody>
          <a:bodyPr wrap="square" anchor="t">
            <a:normAutofit/>
          </a:bodyPr>
          <a:lstStyle/>
          <a:p>
            <a:pPr algn="ctr"/>
            <a:r>
              <a:rPr lang="en-US" sz="700" dirty="0">
                <a:solidFill>
                  <a:srgbClr val="7B96B2"/>
                </a:solidFill>
              </a:rPr>
              <a:t>Moetz et al. (2020)  ·  Neo4j Graph Data Science  ·  Spring 2026 Capstone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47548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Why Graph Algorithms?</a:t>
            </a:r>
            <a:endParaRPr lang="en-US" sz="2600" dirty="0"/>
          </a:p>
        </p:txBody>
      </p:sp>
      <p:sp>
        <p:nvSpPr>
          <p:cNvPr id="3" name="Text 1"/>
          <p:cNvSpPr/>
          <p:nvPr/>
        </p:nvSpPr>
        <p:spPr>
          <a:xfrm>
            <a:off x="365760" y="658368"/>
            <a:ext cx="8412480" cy="274320"/>
          </a:xfrm>
          <a:prstGeom prst="rect">
            <a:avLst/>
          </a:prstGeom>
          <a:noFill/>
          <a:ln/>
        </p:spPr>
        <p:txBody>
          <a:bodyPr wrap="square" rtlCol="0" anchor="ctr"/>
          <a:lstStyle/>
          <a:p>
            <a:pPr marL="0" indent="0">
              <a:buNone/>
            </a:pPr>
            <a:r>
              <a:rPr lang="en-US" sz="1200" i="1" dirty="0">
                <a:solidFill>
                  <a:srgbClr val="7B96B2"/>
                </a:solidFill>
                <a:latin typeface="Calibri" pitchFamily="34" charset="0"/>
                <a:ea typeface="Calibri" pitchFamily="34" charset="-122"/>
                <a:cs typeface="Calibri" pitchFamily="34" charset="-120"/>
              </a:rPr>
              <a:t>Moving from answering questions to understanding the whole network at once</a:t>
            </a:r>
            <a:endParaRPr lang="en-US" sz="1200" dirty="0"/>
          </a:p>
        </p:txBody>
      </p:sp>
      <p:sp>
        <p:nvSpPr>
          <p:cNvPr id="4" name="Shape 2"/>
          <p:cNvSpPr/>
          <p:nvPr/>
        </p:nvSpPr>
        <p:spPr>
          <a:xfrm>
            <a:off x="274320" y="1024128"/>
            <a:ext cx="2743200" cy="329184"/>
          </a:xfrm>
          <a:prstGeom prst="rect">
            <a:avLst/>
          </a:prstGeom>
          <a:solidFill>
            <a:srgbClr val="0077A8"/>
          </a:solidFill>
          <a:ln w="12700">
            <a:solidFill>
              <a:srgbClr val="0077A8"/>
            </a:solidFill>
            <a:prstDash val="solid"/>
          </a:ln>
        </p:spPr>
        <p:txBody>
          <a:bodyPr/>
          <a:lstStyle/>
          <a:p>
            <a:endParaRPr lang="en-US"/>
          </a:p>
        </p:txBody>
      </p:sp>
      <p:sp>
        <p:nvSpPr>
          <p:cNvPr id="5" name="Text 3"/>
          <p:cNvSpPr/>
          <p:nvPr/>
        </p:nvSpPr>
        <p:spPr>
          <a:xfrm>
            <a:off x="365760" y="1024128"/>
            <a:ext cx="2560320" cy="32918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What our EDA &amp; AQ queries did</a:t>
            </a:r>
            <a:endParaRPr lang="en-US" sz="950" dirty="0"/>
          </a:p>
        </p:txBody>
      </p:sp>
      <p:sp>
        <p:nvSpPr>
          <p:cNvPr id="6" name="Shape 4"/>
          <p:cNvSpPr/>
          <p:nvPr/>
        </p:nvSpPr>
        <p:spPr>
          <a:xfrm>
            <a:off x="274320" y="1353312"/>
            <a:ext cx="2743200" cy="3127248"/>
          </a:xfrm>
          <a:prstGeom prst="rect">
            <a:avLst/>
          </a:prstGeom>
          <a:solidFill>
            <a:srgbClr val="112233"/>
          </a:solidFill>
          <a:ln w="12700">
            <a:solidFill>
              <a:srgbClr val="112233"/>
            </a:solidFill>
            <a:prstDash val="solid"/>
          </a:ln>
        </p:spPr>
        <p:txBody>
          <a:bodyPr/>
          <a:lstStyle/>
          <a:p>
            <a:endParaRPr lang="en-US"/>
          </a:p>
        </p:txBody>
      </p:sp>
      <p:sp>
        <p:nvSpPr>
          <p:cNvPr id="7" name="Shape 5"/>
          <p:cNvSpPr/>
          <p:nvPr/>
        </p:nvSpPr>
        <p:spPr>
          <a:xfrm>
            <a:off x="384048" y="1536192"/>
            <a:ext cx="128016" cy="128016"/>
          </a:xfrm>
          <a:prstGeom prst="ellipse">
            <a:avLst/>
          </a:prstGeom>
          <a:solidFill>
            <a:srgbClr val="0077A8"/>
          </a:solidFill>
          <a:ln w="12700">
            <a:solidFill>
              <a:srgbClr val="0077A8"/>
            </a:solidFill>
            <a:prstDash val="solid"/>
          </a:ln>
        </p:spPr>
        <p:txBody>
          <a:bodyPr/>
          <a:lstStyle/>
          <a:p>
            <a:endParaRPr lang="en-US"/>
          </a:p>
        </p:txBody>
      </p:sp>
      <p:sp>
        <p:nvSpPr>
          <p:cNvPr id="8" name="Text 6"/>
          <p:cNvSpPr/>
          <p:nvPr/>
        </p:nvSpPr>
        <p:spPr>
          <a:xfrm>
            <a:off x="585216" y="1463040"/>
            <a:ext cx="2340864" cy="658368"/>
          </a:xfrm>
          <a:prstGeom prst="rect">
            <a:avLst/>
          </a:prstGeom>
          <a:noFill/>
          <a:ln/>
        </p:spPr>
        <p:txBody>
          <a:bodyPr wrap="square" rtlCol="0" anchor="t"/>
          <a:lstStyle/>
          <a:p>
            <a:pPr marL="0" indent="0">
              <a:buNone/>
            </a:pPr>
            <a:r>
              <a:rPr lang="en-US" sz="1000" dirty="0">
                <a:solidFill>
                  <a:srgbClr val="D6E4F0"/>
                </a:solidFill>
                <a:latin typeface="Calibri" pitchFamily="34" charset="0"/>
                <a:ea typeface="Calibri" pitchFamily="34" charset="-122"/>
                <a:cs typeface="Calibri" pitchFamily="34" charset="-120"/>
              </a:rPr>
              <a:t>Answered specific questions one at a time</a:t>
            </a:r>
            <a:endParaRPr lang="en-US" sz="1000" dirty="0"/>
          </a:p>
        </p:txBody>
      </p:sp>
      <p:sp>
        <p:nvSpPr>
          <p:cNvPr id="9" name="Shape 7"/>
          <p:cNvSpPr/>
          <p:nvPr/>
        </p:nvSpPr>
        <p:spPr>
          <a:xfrm>
            <a:off x="384048" y="2267712"/>
            <a:ext cx="128016" cy="128016"/>
          </a:xfrm>
          <a:prstGeom prst="ellipse">
            <a:avLst/>
          </a:prstGeom>
          <a:solidFill>
            <a:srgbClr val="0077A8"/>
          </a:solidFill>
          <a:ln w="12700">
            <a:solidFill>
              <a:srgbClr val="0077A8"/>
            </a:solidFill>
            <a:prstDash val="solid"/>
          </a:ln>
        </p:spPr>
        <p:txBody>
          <a:bodyPr/>
          <a:lstStyle/>
          <a:p>
            <a:endParaRPr lang="en-US"/>
          </a:p>
        </p:txBody>
      </p:sp>
      <p:sp>
        <p:nvSpPr>
          <p:cNvPr id="10" name="Text 8"/>
          <p:cNvSpPr/>
          <p:nvPr/>
        </p:nvSpPr>
        <p:spPr>
          <a:xfrm>
            <a:off x="585216" y="2194560"/>
            <a:ext cx="2340864" cy="658368"/>
          </a:xfrm>
          <a:prstGeom prst="rect">
            <a:avLst/>
          </a:prstGeom>
          <a:noFill/>
          <a:ln/>
        </p:spPr>
        <p:txBody>
          <a:bodyPr wrap="square" rtlCol="0" anchor="t"/>
          <a:lstStyle/>
          <a:p>
            <a:pPr marL="0" indent="0">
              <a:buNone/>
            </a:pPr>
            <a:r>
              <a:rPr lang="en-US" sz="1000" dirty="0">
                <a:solidFill>
                  <a:srgbClr val="D6E4F0"/>
                </a:solidFill>
                <a:latin typeface="Calibri" pitchFamily="34" charset="0"/>
                <a:ea typeface="Calibri" pitchFamily="34" charset="-122"/>
                <a:cs typeface="Calibri" pitchFamily="34" charset="-120"/>
              </a:rPr>
              <a:t>Identified which routes and components are risky</a:t>
            </a:r>
            <a:endParaRPr lang="en-US" sz="1000" dirty="0"/>
          </a:p>
        </p:txBody>
      </p:sp>
      <p:sp>
        <p:nvSpPr>
          <p:cNvPr id="11" name="Shape 9"/>
          <p:cNvSpPr/>
          <p:nvPr/>
        </p:nvSpPr>
        <p:spPr>
          <a:xfrm>
            <a:off x="384048" y="2999232"/>
            <a:ext cx="128016" cy="128016"/>
          </a:xfrm>
          <a:prstGeom prst="ellipse">
            <a:avLst/>
          </a:prstGeom>
          <a:solidFill>
            <a:srgbClr val="0077A8"/>
          </a:solidFill>
          <a:ln w="12700">
            <a:solidFill>
              <a:srgbClr val="0077A8"/>
            </a:solidFill>
            <a:prstDash val="solid"/>
          </a:ln>
        </p:spPr>
        <p:txBody>
          <a:bodyPr/>
          <a:lstStyle/>
          <a:p>
            <a:endParaRPr lang="en-US"/>
          </a:p>
        </p:txBody>
      </p:sp>
      <p:sp>
        <p:nvSpPr>
          <p:cNvPr id="12" name="Text 10"/>
          <p:cNvSpPr/>
          <p:nvPr/>
        </p:nvSpPr>
        <p:spPr>
          <a:xfrm>
            <a:off x="585216" y="2926080"/>
            <a:ext cx="2340864" cy="658368"/>
          </a:xfrm>
          <a:prstGeom prst="rect">
            <a:avLst/>
          </a:prstGeom>
          <a:noFill/>
          <a:ln/>
        </p:spPr>
        <p:txBody>
          <a:bodyPr wrap="square" rtlCol="0" anchor="t"/>
          <a:lstStyle/>
          <a:p>
            <a:pPr marL="0" indent="0">
              <a:buNone/>
            </a:pPr>
            <a:r>
              <a:rPr lang="en-US" sz="1000" dirty="0">
                <a:solidFill>
                  <a:srgbClr val="D6E4F0"/>
                </a:solidFill>
                <a:latin typeface="Calibri" pitchFamily="34" charset="0"/>
                <a:ea typeface="Calibri" pitchFamily="34" charset="-122"/>
                <a:cs typeface="Calibri" pitchFamily="34" charset="-120"/>
              </a:rPr>
              <a:t>Showed us where to look in the supply chain</a:t>
            </a:r>
            <a:endParaRPr lang="en-US" sz="1000" dirty="0"/>
          </a:p>
        </p:txBody>
      </p:sp>
      <p:sp>
        <p:nvSpPr>
          <p:cNvPr id="13" name="Shape 11"/>
          <p:cNvSpPr/>
          <p:nvPr/>
        </p:nvSpPr>
        <p:spPr>
          <a:xfrm>
            <a:off x="384048" y="3730752"/>
            <a:ext cx="128016" cy="128016"/>
          </a:xfrm>
          <a:prstGeom prst="ellipse">
            <a:avLst/>
          </a:prstGeom>
          <a:solidFill>
            <a:srgbClr val="0077A8"/>
          </a:solidFill>
          <a:ln w="12700">
            <a:solidFill>
              <a:srgbClr val="0077A8"/>
            </a:solidFill>
            <a:prstDash val="solid"/>
          </a:ln>
        </p:spPr>
        <p:txBody>
          <a:bodyPr/>
          <a:lstStyle/>
          <a:p>
            <a:endParaRPr lang="en-US"/>
          </a:p>
        </p:txBody>
      </p:sp>
      <p:sp>
        <p:nvSpPr>
          <p:cNvPr id="14" name="Text 12"/>
          <p:cNvSpPr/>
          <p:nvPr/>
        </p:nvSpPr>
        <p:spPr>
          <a:xfrm>
            <a:off x="585216" y="3657600"/>
            <a:ext cx="2340864" cy="658368"/>
          </a:xfrm>
          <a:prstGeom prst="rect">
            <a:avLst/>
          </a:prstGeom>
          <a:noFill/>
          <a:ln/>
        </p:spPr>
        <p:txBody>
          <a:bodyPr wrap="square" rtlCol="0" anchor="t"/>
          <a:lstStyle/>
          <a:p>
            <a:pPr marL="0" indent="0">
              <a:buNone/>
            </a:pPr>
            <a:r>
              <a:rPr lang="en-US" sz="1000" dirty="0">
                <a:solidFill>
                  <a:srgbClr val="D6E4F0"/>
                </a:solidFill>
                <a:latin typeface="Calibri" pitchFamily="34" charset="0"/>
                <a:ea typeface="Calibri" pitchFamily="34" charset="-122"/>
                <a:cs typeface="Calibri" pitchFamily="34" charset="-120"/>
              </a:rPr>
              <a:t>Required us to know the question upfront</a:t>
            </a:r>
            <a:endParaRPr lang="en-US" sz="1000" dirty="0"/>
          </a:p>
        </p:txBody>
      </p:sp>
      <p:sp>
        <p:nvSpPr>
          <p:cNvPr id="15" name="Shape 13"/>
          <p:cNvSpPr/>
          <p:nvPr/>
        </p:nvSpPr>
        <p:spPr>
          <a:xfrm>
            <a:off x="3163824" y="1024128"/>
            <a:ext cx="2743200" cy="329184"/>
          </a:xfrm>
          <a:prstGeom prst="rect">
            <a:avLst/>
          </a:prstGeom>
          <a:solidFill>
            <a:srgbClr val="00B4D8"/>
          </a:solidFill>
          <a:ln w="12700">
            <a:solidFill>
              <a:srgbClr val="00B4D8"/>
            </a:solidFill>
            <a:prstDash val="solid"/>
          </a:ln>
        </p:spPr>
        <p:txBody>
          <a:bodyPr/>
          <a:lstStyle/>
          <a:p>
            <a:endParaRPr lang="en-US"/>
          </a:p>
        </p:txBody>
      </p:sp>
      <p:sp>
        <p:nvSpPr>
          <p:cNvPr id="16" name="Text 14"/>
          <p:cNvSpPr/>
          <p:nvPr/>
        </p:nvSpPr>
        <p:spPr>
          <a:xfrm>
            <a:off x="3255264" y="1024128"/>
            <a:ext cx="2560320" cy="32918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What Graph Algorithms add</a:t>
            </a:r>
            <a:endParaRPr lang="en-US" sz="950" dirty="0"/>
          </a:p>
        </p:txBody>
      </p:sp>
      <p:sp>
        <p:nvSpPr>
          <p:cNvPr id="17" name="Shape 15"/>
          <p:cNvSpPr/>
          <p:nvPr/>
        </p:nvSpPr>
        <p:spPr>
          <a:xfrm>
            <a:off x="3163824" y="1353312"/>
            <a:ext cx="2743200" cy="3127248"/>
          </a:xfrm>
          <a:prstGeom prst="rect">
            <a:avLst/>
          </a:prstGeom>
          <a:solidFill>
            <a:srgbClr val="112233"/>
          </a:solidFill>
          <a:ln w="12700">
            <a:solidFill>
              <a:srgbClr val="112233"/>
            </a:solidFill>
            <a:prstDash val="solid"/>
          </a:ln>
        </p:spPr>
        <p:txBody>
          <a:bodyPr/>
          <a:lstStyle/>
          <a:p>
            <a:endParaRPr lang="en-US"/>
          </a:p>
        </p:txBody>
      </p:sp>
      <p:sp>
        <p:nvSpPr>
          <p:cNvPr id="18" name="Shape 16"/>
          <p:cNvSpPr/>
          <p:nvPr/>
        </p:nvSpPr>
        <p:spPr>
          <a:xfrm>
            <a:off x="3273552" y="1536192"/>
            <a:ext cx="128016" cy="128016"/>
          </a:xfrm>
          <a:prstGeom prst="ellipse">
            <a:avLst/>
          </a:prstGeom>
          <a:solidFill>
            <a:srgbClr val="00B4D8"/>
          </a:solidFill>
          <a:ln w="12700">
            <a:solidFill>
              <a:srgbClr val="00B4D8"/>
            </a:solidFill>
            <a:prstDash val="solid"/>
          </a:ln>
        </p:spPr>
        <p:txBody>
          <a:bodyPr/>
          <a:lstStyle/>
          <a:p>
            <a:endParaRPr lang="en-US"/>
          </a:p>
        </p:txBody>
      </p:sp>
      <p:sp>
        <p:nvSpPr>
          <p:cNvPr id="19" name="Text 17"/>
          <p:cNvSpPr/>
          <p:nvPr/>
        </p:nvSpPr>
        <p:spPr>
          <a:xfrm>
            <a:off x="3474720" y="1463040"/>
            <a:ext cx="2340864" cy="658368"/>
          </a:xfrm>
          <a:prstGeom prst="rect">
            <a:avLst/>
          </a:prstGeom>
          <a:noFill/>
          <a:ln/>
        </p:spPr>
        <p:txBody>
          <a:bodyPr wrap="square" rtlCol="0" anchor="t"/>
          <a:lstStyle/>
          <a:p>
            <a:pPr marL="0" indent="0">
              <a:buNone/>
            </a:pPr>
            <a:r>
              <a:rPr lang="en-US" sz="1000" dirty="0">
                <a:solidFill>
                  <a:srgbClr val="D6E4F0"/>
                </a:solidFill>
                <a:latin typeface="Calibri" pitchFamily="34" charset="0"/>
                <a:ea typeface="Calibri" pitchFamily="34" charset="-122"/>
                <a:cs typeface="Calibri" pitchFamily="34" charset="-120"/>
              </a:rPr>
              <a:t>Score every assembly plant and supplier simultaneously</a:t>
            </a:r>
            <a:endParaRPr lang="en-US" sz="1000" dirty="0"/>
          </a:p>
        </p:txBody>
      </p:sp>
      <p:sp>
        <p:nvSpPr>
          <p:cNvPr id="20" name="Shape 18"/>
          <p:cNvSpPr/>
          <p:nvPr/>
        </p:nvSpPr>
        <p:spPr>
          <a:xfrm>
            <a:off x="3273552" y="2267712"/>
            <a:ext cx="128016" cy="128016"/>
          </a:xfrm>
          <a:prstGeom prst="ellipse">
            <a:avLst/>
          </a:prstGeom>
          <a:solidFill>
            <a:srgbClr val="00B4D8"/>
          </a:solidFill>
          <a:ln w="12700">
            <a:solidFill>
              <a:srgbClr val="00B4D8"/>
            </a:solidFill>
            <a:prstDash val="solid"/>
          </a:ln>
        </p:spPr>
        <p:txBody>
          <a:bodyPr/>
          <a:lstStyle/>
          <a:p>
            <a:endParaRPr lang="en-US"/>
          </a:p>
        </p:txBody>
      </p:sp>
      <p:sp>
        <p:nvSpPr>
          <p:cNvPr id="21" name="Text 19"/>
          <p:cNvSpPr/>
          <p:nvPr/>
        </p:nvSpPr>
        <p:spPr>
          <a:xfrm>
            <a:off x="3474720" y="2194560"/>
            <a:ext cx="2340864" cy="658368"/>
          </a:xfrm>
          <a:prstGeom prst="rect">
            <a:avLst/>
          </a:prstGeom>
          <a:noFill/>
          <a:ln/>
        </p:spPr>
        <p:txBody>
          <a:bodyPr wrap="square" rtlCol="0" anchor="t"/>
          <a:lstStyle/>
          <a:p>
            <a:pPr marL="0" indent="0">
              <a:buNone/>
            </a:pPr>
            <a:r>
              <a:rPr lang="en-US" sz="1000" dirty="0">
                <a:solidFill>
                  <a:srgbClr val="D6E4F0"/>
                </a:solidFill>
                <a:latin typeface="Calibri" pitchFamily="34" charset="0"/>
                <a:ea typeface="Calibri" pitchFamily="34" charset="-122"/>
                <a:cs typeface="Calibri" pitchFamily="34" charset="-120"/>
              </a:rPr>
              <a:t>Surface critical nodes no single query can find</a:t>
            </a:r>
            <a:endParaRPr lang="en-US" sz="1000" dirty="0"/>
          </a:p>
        </p:txBody>
      </p:sp>
      <p:sp>
        <p:nvSpPr>
          <p:cNvPr id="22" name="Shape 20"/>
          <p:cNvSpPr/>
          <p:nvPr/>
        </p:nvSpPr>
        <p:spPr>
          <a:xfrm>
            <a:off x="3273552" y="2999232"/>
            <a:ext cx="128016" cy="128016"/>
          </a:xfrm>
          <a:prstGeom prst="ellipse">
            <a:avLst/>
          </a:prstGeom>
          <a:solidFill>
            <a:srgbClr val="00B4D8"/>
          </a:solidFill>
          <a:ln w="12700">
            <a:solidFill>
              <a:srgbClr val="00B4D8"/>
            </a:solidFill>
            <a:prstDash val="solid"/>
          </a:ln>
        </p:spPr>
        <p:txBody>
          <a:bodyPr/>
          <a:lstStyle/>
          <a:p>
            <a:endParaRPr lang="en-US"/>
          </a:p>
        </p:txBody>
      </p:sp>
      <p:sp>
        <p:nvSpPr>
          <p:cNvPr id="23" name="Text 21"/>
          <p:cNvSpPr/>
          <p:nvPr/>
        </p:nvSpPr>
        <p:spPr>
          <a:xfrm>
            <a:off x="3474720" y="2926080"/>
            <a:ext cx="2340864" cy="658368"/>
          </a:xfrm>
          <a:prstGeom prst="rect">
            <a:avLst/>
          </a:prstGeom>
          <a:noFill/>
          <a:ln/>
        </p:spPr>
        <p:txBody>
          <a:bodyPr wrap="square" rtlCol="0" anchor="t"/>
          <a:lstStyle/>
          <a:p>
            <a:pPr marL="0" indent="0">
              <a:buNone/>
            </a:pPr>
            <a:r>
              <a:rPr lang="en-US" sz="1000" dirty="0">
                <a:solidFill>
                  <a:srgbClr val="D6E4F0"/>
                </a:solidFill>
                <a:latin typeface="Calibri" pitchFamily="34" charset="0"/>
                <a:ea typeface="Calibri" pitchFamily="34" charset="-122"/>
                <a:cs typeface="Calibri" pitchFamily="34" charset="-120"/>
              </a:rPr>
              <a:t>Identify natural clusters in the bill of materials</a:t>
            </a:r>
            <a:endParaRPr lang="en-US" sz="1000" dirty="0"/>
          </a:p>
        </p:txBody>
      </p:sp>
      <p:sp>
        <p:nvSpPr>
          <p:cNvPr id="24" name="Shape 22"/>
          <p:cNvSpPr/>
          <p:nvPr/>
        </p:nvSpPr>
        <p:spPr>
          <a:xfrm>
            <a:off x="3273552" y="3730752"/>
            <a:ext cx="128016" cy="128016"/>
          </a:xfrm>
          <a:prstGeom prst="ellipse">
            <a:avLst/>
          </a:prstGeom>
          <a:solidFill>
            <a:srgbClr val="00B4D8"/>
          </a:solidFill>
          <a:ln w="12700">
            <a:solidFill>
              <a:srgbClr val="00B4D8"/>
            </a:solidFill>
            <a:prstDash val="solid"/>
          </a:ln>
        </p:spPr>
        <p:txBody>
          <a:bodyPr/>
          <a:lstStyle/>
          <a:p>
            <a:endParaRPr lang="en-US"/>
          </a:p>
        </p:txBody>
      </p:sp>
      <p:sp>
        <p:nvSpPr>
          <p:cNvPr id="25" name="Text 23"/>
          <p:cNvSpPr/>
          <p:nvPr/>
        </p:nvSpPr>
        <p:spPr>
          <a:xfrm>
            <a:off x="3474720" y="3657600"/>
            <a:ext cx="2340864" cy="658368"/>
          </a:xfrm>
          <a:prstGeom prst="rect">
            <a:avLst/>
          </a:prstGeom>
          <a:noFill/>
          <a:ln/>
        </p:spPr>
        <p:txBody>
          <a:bodyPr wrap="square" rtlCol="0" anchor="t"/>
          <a:lstStyle/>
          <a:p>
            <a:pPr marL="0" indent="0">
              <a:buNone/>
            </a:pPr>
            <a:r>
              <a:rPr lang="en-US" sz="1000" dirty="0">
                <a:solidFill>
                  <a:srgbClr val="D6E4F0"/>
                </a:solidFill>
                <a:latin typeface="Calibri" pitchFamily="34" charset="0"/>
                <a:ea typeface="Calibri" pitchFamily="34" charset="-122"/>
                <a:cs typeface="Calibri" pitchFamily="34" charset="-120"/>
              </a:rPr>
              <a:t>Produce ranked outputs across the entire 28,000-product network</a:t>
            </a:r>
            <a:endParaRPr lang="en-US" sz="1000" dirty="0"/>
          </a:p>
        </p:txBody>
      </p:sp>
      <p:sp>
        <p:nvSpPr>
          <p:cNvPr id="26" name="Shape 24"/>
          <p:cNvSpPr/>
          <p:nvPr/>
        </p:nvSpPr>
        <p:spPr>
          <a:xfrm>
            <a:off x="6053328" y="1024128"/>
            <a:ext cx="2743200" cy="329184"/>
          </a:xfrm>
          <a:prstGeom prst="rect">
            <a:avLst/>
          </a:prstGeom>
          <a:solidFill>
            <a:srgbClr val="F4A261"/>
          </a:solidFill>
          <a:ln w="12700">
            <a:solidFill>
              <a:srgbClr val="F4A261"/>
            </a:solidFill>
            <a:prstDash val="solid"/>
          </a:ln>
        </p:spPr>
        <p:txBody>
          <a:bodyPr/>
          <a:lstStyle/>
          <a:p>
            <a:endParaRPr lang="en-US"/>
          </a:p>
        </p:txBody>
      </p:sp>
      <p:sp>
        <p:nvSpPr>
          <p:cNvPr id="27" name="Text 25"/>
          <p:cNvSpPr/>
          <p:nvPr/>
        </p:nvSpPr>
        <p:spPr>
          <a:xfrm>
            <a:off x="6144768" y="1024128"/>
            <a:ext cx="2560320" cy="32918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Business outcome</a:t>
            </a:r>
            <a:endParaRPr lang="en-US" sz="950" dirty="0"/>
          </a:p>
        </p:txBody>
      </p:sp>
      <p:sp>
        <p:nvSpPr>
          <p:cNvPr id="28" name="Shape 26"/>
          <p:cNvSpPr/>
          <p:nvPr/>
        </p:nvSpPr>
        <p:spPr>
          <a:xfrm>
            <a:off x="6053328" y="1353312"/>
            <a:ext cx="2743200" cy="3127248"/>
          </a:xfrm>
          <a:prstGeom prst="rect">
            <a:avLst/>
          </a:prstGeom>
          <a:solidFill>
            <a:srgbClr val="112233"/>
          </a:solidFill>
          <a:ln w="12700">
            <a:solidFill>
              <a:srgbClr val="112233"/>
            </a:solidFill>
            <a:prstDash val="solid"/>
          </a:ln>
        </p:spPr>
        <p:txBody>
          <a:bodyPr/>
          <a:lstStyle/>
          <a:p>
            <a:endParaRPr lang="en-US"/>
          </a:p>
        </p:txBody>
      </p:sp>
      <p:sp>
        <p:nvSpPr>
          <p:cNvPr id="29" name="Shape 27"/>
          <p:cNvSpPr/>
          <p:nvPr/>
        </p:nvSpPr>
        <p:spPr>
          <a:xfrm>
            <a:off x="6163056" y="1536192"/>
            <a:ext cx="128016" cy="128016"/>
          </a:xfrm>
          <a:prstGeom prst="ellipse">
            <a:avLst/>
          </a:prstGeom>
          <a:solidFill>
            <a:srgbClr val="F4A261"/>
          </a:solidFill>
          <a:ln w="12700">
            <a:solidFill>
              <a:srgbClr val="F4A261"/>
            </a:solidFill>
            <a:prstDash val="solid"/>
          </a:ln>
        </p:spPr>
        <p:txBody>
          <a:bodyPr/>
          <a:lstStyle/>
          <a:p>
            <a:endParaRPr lang="en-US"/>
          </a:p>
        </p:txBody>
      </p:sp>
      <p:sp>
        <p:nvSpPr>
          <p:cNvPr id="30" name="Text 28"/>
          <p:cNvSpPr/>
          <p:nvPr/>
        </p:nvSpPr>
        <p:spPr>
          <a:xfrm>
            <a:off x="6364224" y="1463040"/>
            <a:ext cx="2340864" cy="658368"/>
          </a:xfrm>
          <a:prstGeom prst="rect">
            <a:avLst/>
          </a:prstGeom>
          <a:noFill/>
          <a:ln/>
        </p:spPr>
        <p:txBody>
          <a:bodyPr wrap="square" rtlCol="0" anchor="t"/>
          <a:lstStyle/>
          <a:p>
            <a:pPr marL="0" indent="0">
              <a:buNone/>
            </a:pPr>
            <a:r>
              <a:rPr lang="en-US" sz="1000" dirty="0">
                <a:solidFill>
                  <a:srgbClr val="D6E4F0"/>
                </a:solidFill>
                <a:latin typeface="Calibri" pitchFamily="34" charset="0"/>
                <a:ea typeface="Calibri" pitchFamily="34" charset="-122"/>
                <a:cs typeface="Calibri" pitchFamily="34" charset="-120"/>
              </a:rPr>
              <a:t>Know which plants to protect first if a disruption hits</a:t>
            </a:r>
            <a:endParaRPr lang="en-US" sz="1000" dirty="0"/>
          </a:p>
        </p:txBody>
      </p:sp>
      <p:sp>
        <p:nvSpPr>
          <p:cNvPr id="31" name="Shape 29"/>
          <p:cNvSpPr/>
          <p:nvPr/>
        </p:nvSpPr>
        <p:spPr>
          <a:xfrm>
            <a:off x="6163056" y="2267712"/>
            <a:ext cx="128016" cy="128016"/>
          </a:xfrm>
          <a:prstGeom prst="ellipse">
            <a:avLst/>
          </a:prstGeom>
          <a:solidFill>
            <a:srgbClr val="F4A261"/>
          </a:solidFill>
          <a:ln w="12700">
            <a:solidFill>
              <a:srgbClr val="F4A261"/>
            </a:solidFill>
            <a:prstDash val="solid"/>
          </a:ln>
        </p:spPr>
        <p:txBody>
          <a:bodyPr/>
          <a:lstStyle/>
          <a:p>
            <a:endParaRPr lang="en-US"/>
          </a:p>
        </p:txBody>
      </p:sp>
      <p:sp>
        <p:nvSpPr>
          <p:cNvPr id="32" name="Text 30"/>
          <p:cNvSpPr/>
          <p:nvPr/>
        </p:nvSpPr>
        <p:spPr>
          <a:xfrm>
            <a:off x="6364224" y="2194560"/>
            <a:ext cx="2340864" cy="658368"/>
          </a:xfrm>
          <a:prstGeom prst="rect">
            <a:avLst/>
          </a:prstGeom>
          <a:noFill/>
          <a:ln/>
        </p:spPr>
        <p:txBody>
          <a:bodyPr wrap="square" rtlCol="0" anchor="t"/>
          <a:lstStyle/>
          <a:p>
            <a:pPr marL="0" indent="0">
              <a:buNone/>
            </a:pPr>
            <a:r>
              <a:rPr lang="en-US" sz="1000" dirty="0">
                <a:solidFill>
                  <a:srgbClr val="D6E4F0"/>
                </a:solidFill>
                <a:latin typeface="Calibri" pitchFamily="34" charset="0"/>
                <a:ea typeface="Calibri" pitchFamily="34" charset="-122"/>
                <a:cs typeface="Calibri" pitchFamily="34" charset="-120"/>
              </a:rPr>
              <a:t>Manage 28,049 products as 7 planning zones, not individual SKUs</a:t>
            </a:r>
            <a:endParaRPr lang="en-US" sz="1000" dirty="0"/>
          </a:p>
        </p:txBody>
      </p:sp>
      <p:sp>
        <p:nvSpPr>
          <p:cNvPr id="33" name="Shape 31"/>
          <p:cNvSpPr/>
          <p:nvPr/>
        </p:nvSpPr>
        <p:spPr>
          <a:xfrm>
            <a:off x="6163056" y="2999232"/>
            <a:ext cx="128016" cy="128016"/>
          </a:xfrm>
          <a:prstGeom prst="ellipse">
            <a:avLst/>
          </a:prstGeom>
          <a:solidFill>
            <a:srgbClr val="F4A261"/>
          </a:solidFill>
          <a:ln w="12700">
            <a:solidFill>
              <a:srgbClr val="F4A261"/>
            </a:solidFill>
            <a:prstDash val="solid"/>
          </a:ln>
        </p:spPr>
        <p:txBody>
          <a:bodyPr/>
          <a:lstStyle/>
          <a:p>
            <a:endParaRPr lang="en-US"/>
          </a:p>
        </p:txBody>
      </p:sp>
      <p:sp>
        <p:nvSpPr>
          <p:cNvPr id="34" name="Text 32"/>
          <p:cNvSpPr/>
          <p:nvPr/>
        </p:nvSpPr>
        <p:spPr>
          <a:xfrm>
            <a:off x="6364224" y="2926080"/>
            <a:ext cx="2340864" cy="658368"/>
          </a:xfrm>
          <a:prstGeom prst="rect">
            <a:avLst/>
          </a:prstGeom>
          <a:noFill/>
          <a:ln/>
        </p:spPr>
        <p:txBody>
          <a:bodyPr wrap="square" rtlCol="0" anchor="t"/>
          <a:lstStyle/>
          <a:p>
            <a:pPr marL="0" indent="0">
              <a:buNone/>
            </a:pPr>
            <a:r>
              <a:rPr lang="en-US" sz="1000" dirty="0">
                <a:solidFill>
                  <a:srgbClr val="D6E4F0"/>
                </a:solidFill>
                <a:latin typeface="Calibri" pitchFamily="34" charset="0"/>
                <a:ea typeface="Calibri" pitchFamily="34" charset="-122"/>
                <a:cs typeface="Calibri" pitchFamily="34" charset="-120"/>
              </a:rPr>
              <a:t>Prioritise investment in resilience with evidence</a:t>
            </a:r>
            <a:endParaRPr lang="en-US" sz="1000" dirty="0"/>
          </a:p>
        </p:txBody>
      </p:sp>
      <p:sp>
        <p:nvSpPr>
          <p:cNvPr id="35" name="Shape 33"/>
          <p:cNvSpPr/>
          <p:nvPr/>
        </p:nvSpPr>
        <p:spPr>
          <a:xfrm>
            <a:off x="6163056" y="3730752"/>
            <a:ext cx="128016" cy="128016"/>
          </a:xfrm>
          <a:prstGeom prst="ellipse">
            <a:avLst/>
          </a:prstGeom>
          <a:solidFill>
            <a:srgbClr val="F4A261"/>
          </a:solidFill>
          <a:ln w="12700">
            <a:solidFill>
              <a:srgbClr val="F4A261"/>
            </a:solidFill>
            <a:prstDash val="solid"/>
          </a:ln>
        </p:spPr>
        <p:txBody>
          <a:bodyPr/>
          <a:lstStyle/>
          <a:p>
            <a:endParaRPr lang="en-US"/>
          </a:p>
        </p:txBody>
      </p:sp>
      <p:sp>
        <p:nvSpPr>
          <p:cNvPr id="36" name="Text 34"/>
          <p:cNvSpPr/>
          <p:nvPr/>
        </p:nvSpPr>
        <p:spPr>
          <a:xfrm>
            <a:off x="6364224" y="3657600"/>
            <a:ext cx="2340864" cy="658368"/>
          </a:xfrm>
          <a:prstGeom prst="rect">
            <a:avLst/>
          </a:prstGeom>
          <a:noFill/>
          <a:ln/>
        </p:spPr>
        <p:txBody>
          <a:bodyPr wrap="square" rtlCol="0" anchor="t"/>
          <a:lstStyle/>
          <a:p>
            <a:pPr marL="0" indent="0">
              <a:buNone/>
            </a:pPr>
            <a:r>
              <a:rPr lang="en-US" sz="1000" dirty="0">
                <a:solidFill>
                  <a:srgbClr val="D6E4F0"/>
                </a:solidFill>
                <a:latin typeface="Calibri" pitchFamily="34" charset="0"/>
                <a:ea typeface="Calibri" pitchFamily="34" charset="-122"/>
                <a:cs typeface="Calibri" pitchFamily="34" charset="-120"/>
              </a:rPr>
              <a:t>Respond faster because the network structure is mapped</a:t>
            </a:r>
            <a:endParaRPr lang="en-US" sz="1000" dirty="0"/>
          </a:p>
        </p:txBody>
      </p:sp>
      <p:sp>
        <p:nvSpPr>
          <p:cNvPr id="37" name="Shape 35"/>
          <p:cNvSpPr/>
          <p:nvPr/>
        </p:nvSpPr>
        <p:spPr>
          <a:xfrm>
            <a:off x="274320" y="4553712"/>
            <a:ext cx="8595360" cy="347472"/>
          </a:xfrm>
          <a:prstGeom prst="rect">
            <a:avLst/>
          </a:prstGeom>
          <a:solidFill>
            <a:srgbClr val="0A1628"/>
          </a:solidFill>
          <a:ln w="10160">
            <a:solidFill>
              <a:srgbClr val="00B4D8"/>
            </a:solidFill>
            <a:prstDash val="solid"/>
          </a:ln>
        </p:spPr>
        <p:txBody>
          <a:bodyPr/>
          <a:lstStyle/>
          <a:p>
            <a:endParaRPr lang="en-US"/>
          </a:p>
        </p:txBody>
      </p:sp>
      <p:sp>
        <p:nvSpPr>
          <p:cNvPr id="38" name="Text 36"/>
          <p:cNvSpPr/>
          <p:nvPr/>
        </p:nvSpPr>
        <p:spPr>
          <a:xfrm>
            <a:off x="457200" y="4553712"/>
            <a:ext cx="8229600" cy="347472"/>
          </a:xfrm>
          <a:prstGeom prst="rect">
            <a:avLst/>
          </a:prstGeom>
          <a:noFill/>
          <a:ln/>
        </p:spPr>
        <p:txBody>
          <a:bodyPr wrap="square" rtlCol="0" anchor="ctr"/>
          <a:lstStyle/>
          <a:p>
            <a:pPr marL="0" indent="0">
              <a:buNone/>
            </a:pPr>
            <a:r>
              <a:rPr lang="en-US" sz="1050" b="1" i="1" dirty="0">
                <a:solidFill>
                  <a:srgbClr val="00B4D8"/>
                </a:solidFill>
                <a:latin typeface="Calibri" pitchFamily="34" charset="0"/>
                <a:ea typeface="Calibri" pitchFamily="34" charset="-122"/>
                <a:cs typeface="Calibri" pitchFamily="34" charset="-120"/>
              </a:rPr>
              <a:t>In short — queries tell you where to look. Algorithms tell you what the entire supply chain is doing at once. PageRank uses a full network projection (56,083 nodes, 171,163 relationships). Leiden uses a product-only BOM projection (28,049 products, 174,118 bill-of-materials edges).</a:t>
            </a:r>
            <a:endParaRPr lang="en-US" sz="1050" dirty="0"/>
          </a:p>
        </p:txBody>
      </p:sp>
      <p:sp>
        <p:nvSpPr>
          <p:cNvPr id="39" name="Text 37"/>
          <p:cNvSpPr/>
          <p:nvPr/>
        </p:nvSpPr>
        <p:spPr>
          <a:xfrm>
            <a:off x="0" y="4992624"/>
            <a:ext cx="9144000" cy="155448"/>
          </a:xfrm>
          <a:prstGeom prst="rect">
            <a:avLst/>
          </a:prstGeom>
          <a:noFill/>
          <a:ln/>
        </p:spPr>
        <p:txBody>
          <a:bodyPr wrap="square" rtlCol="0" anchor="ctr"/>
          <a:lstStyle/>
          <a:p>
            <a:pPr marL="0" indent="0" algn="ctr">
              <a:buNone/>
            </a:pPr>
            <a:r>
              <a:rPr lang="en-US" sz="700" dirty="0">
                <a:solidFill>
                  <a:srgbClr val="7B96B2"/>
                </a:solidFill>
              </a:rPr>
              <a:t>Moetz et al. (2020)  ·  Neo4j Graph Data Science  ·  Spring 2026 Capstone</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47548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PageRank — Which Plants and Products Are Mission-Critical?</a:t>
            </a:r>
            <a:endParaRPr lang="en-US" sz="2200" dirty="0"/>
          </a:p>
        </p:txBody>
      </p:sp>
      <p:sp>
        <p:nvSpPr>
          <p:cNvPr id="3" name="Text 1"/>
          <p:cNvSpPr/>
          <p:nvPr/>
        </p:nvSpPr>
        <p:spPr>
          <a:xfrm>
            <a:off x="365760" y="621792"/>
            <a:ext cx="8412480" cy="237744"/>
          </a:xfrm>
          <a:prstGeom prst="rect">
            <a:avLst/>
          </a:prstGeom>
          <a:noFill/>
          <a:ln/>
        </p:spPr>
        <p:txBody>
          <a:bodyPr wrap="square" rtlCol="0" anchor="ctr"/>
          <a:lstStyle/>
          <a:p>
            <a:pPr marL="0" indent="0">
              <a:buNone/>
            </a:pPr>
            <a:r>
              <a:rPr lang="en-US" sz="950" dirty="0">
                <a:solidFill>
                  <a:srgbClr val="7B96B2"/>
                </a:solidFill>
                <a:latin typeface="Calibri" pitchFamily="34" charset="0"/>
                <a:ea typeface="Calibri" pitchFamily="34" charset="-122"/>
                <a:cs typeface="Calibri" pitchFamily="34" charset="-120"/>
              </a:rPr>
              <a:t>GDS 1  ·  Full network projection: 56,083 nodes  ·  171,163 relationships  ·  50 iterations  ·  damping factor 0.85</a:t>
            </a:r>
            <a:endParaRPr lang="en-US" sz="950" dirty="0"/>
          </a:p>
        </p:txBody>
      </p:sp>
      <p:sp>
        <p:nvSpPr>
          <p:cNvPr id="4" name="Shape 2"/>
          <p:cNvSpPr/>
          <p:nvPr/>
        </p:nvSpPr>
        <p:spPr>
          <a:xfrm>
            <a:off x="274320" y="932688"/>
            <a:ext cx="3474720" cy="4059936"/>
          </a:xfrm>
          <a:prstGeom prst="rect">
            <a:avLst/>
          </a:prstGeom>
          <a:solidFill>
            <a:srgbClr val="112233"/>
          </a:solidFill>
          <a:ln w="8890">
            <a:solidFill>
              <a:srgbClr val="00B4D8"/>
            </a:solidFill>
            <a:prstDash val="solid"/>
          </a:ln>
        </p:spPr>
        <p:txBody>
          <a:bodyPr/>
          <a:lstStyle/>
          <a:p>
            <a:endParaRPr lang="en-US"/>
          </a:p>
        </p:txBody>
      </p:sp>
      <p:sp>
        <p:nvSpPr>
          <p:cNvPr id="5" name="Text 3"/>
          <p:cNvSpPr/>
          <p:nvPr/>
        </p:nvSpPr>
        <p:spPr>
          <a:xfrm>
            <a:off x="402336" y="1005840"/>
            <a:ext cx="3218688" cy="274320"/>
          </a:xfrm>
          <a:prstGeom prst="rect">
            <a:avLst/>
          </a:prstGeom>
          <a:noFill/>
          <a:ln/>
        </p:spPr>
        <p:txBody>
          <a:bodyPr wrap="square" rtlCol="0" anchor="ctr"/>
          <a:lstStyle/>
          <a:p>
            <a:pPr marL="0" indent="0">
              <a:buNone/>
            </a:pPr>
            <a:r>
              <a:rPr lang="en-US" sz="1100" b="1" dirty="0">
                <a:solidFill>
                  <a:srgbClr val="00B4D8"/>
                </a:solidFill>
                <a:latin typeface="Calibri" pitchFamily="34" charset="0"/>
                <a:ea typeface="Calibri" pitchFamily="34" charset="-122"/>
                <a:cs typeface="Calibri" pitchFamily="34" charset="-120"/>
              </a:rPr>
              <a:t>How it works</a:t>
            </a:r>
            <a:endParaRPr lang="en-US" sz="1100" dirty="0"/>
          </a:p>
        </p:txBody>
      </p:sp>
      <p:sp>
        <p:nvSpPr>
          <p:cNvPr id="6" name="Text 4"/>
          <p:cNvSpPr/>
          <p:nvPr/>
        </p:nvSpPr>
        <p:spPr>
          <a:xfrm>
            <a:off x="402336" y="1225296"/>
            <a:ext cx="3218688" cy="3054096"/>
          </a:xfrm>
          <a:prstGeom prst="rect">
            <a:avLst/>
          </a:prstGeom>
          <a:noFill/>
          <a:ln/>
        </p:spPr>
        <p:txBody>
          <a:bodyPr wrap="square" rtlCol="0" anchor="t"/>
          <a:lstStyle/>
          <a:p>
            <a:pPr marL="0" indent="0">
              <a:buNone/>
            </a:pPr>
            <a:r>
              <a:rPr lang="en-US" sz="1000" dirty="0">
                <a:solidFill>
                  <a:srgbClr val="D6E4F0"/>
                </a:solidFill>
                <a:latin typeface="Calibri" pitchFamily="34" charset="0"/>
                <a:ea typeface="Calibri" pitchFamily="34" charset="-122"/>
                <a:cs typeface="Calibri" pitchFamily="34" charset="-120"/>
              </a:rPr>
              <a:t>PageRank was originally built by Google to rank web pages. We apply the same logic to our supply chain. We chose PageRank over alternatives such as Betweenness Centrality and Degree Centrality for three reasons:</a:t>
            </a:r>
            <a:endParaRPr lang="en-US" sz="1000" dirty="0"/>
          </a:p>
          <a:p>
            <a:pPr marL="0" indent="0">
              <a:buNone/>
            </a:pPr>
            <a:endParaRPr lang="en-US" sz="1000" dirty="0"/>
          </a:p>
          <a:p>
            <a:pPr marL="0" indent="0">
              <a:buNone/>
            </a:pPr>
            <a:r>
              <a:rPr lang="en-US" sz="1000" dirty="0">
                <a:solidFill>
                  <a:srgbClr val="D6E4F0"/>
                </a:solidFill>
                <a:latin typeface="Calibri" pitchFamily="34" charset="0"/>
                <a:ea typeface="Calibri" pitchFamily="34" charset="-122"/>
                <a:cs typeface="Calibri" pitchFamily="34" charset="-120"/>
              </a:rPr>
              <a:t>A facility scores high if many other important facilities depend on it — meaning a disruption there would cascade through the most production paths.</a:t>
            </a:r>
            <a:endParaRPr lang="en-US" sz="1000" dirty="0"/>
          </a:p>
          <a:p>
            <a:pPr marL="0" indent="0">
              <a:buNone/>
            </a:pPr>
            <a:endParaRPr lang="en-US" sz="1000" dirty="0"/>
          </a:p>
          <a:p>
            <a:pPr marL="0" indent="0">
              <a:buNone/>
            </a:pPr>
            <a:r>
              <a:rPr lang="en-US" sz="1000" dirty="0">
                <a:solidFill>
                  <a:srgbClr val="D6E4F0"/>
                </a:solidFill>
                <a:latin typeface="Calibri" pitchFamily="34" charset="0"/>
                <a:ea typeface="Calibri" pitchFamily="34" charset="-122"/>
                <a:cs typeface="Calibri" pitchFamily="34" charset="-120"/>
              </a:rPr>
              <a:t>Think of it as asking: if this assembly plant or supplier went dark tomorrow, how many production lines would stop?</a:t>
            </a:r>
            <a:endParaRPr lang="en-US" sz="1000" dirty="0"/>
          </a:p>
          <a:p>
            <a:pPr marL="0" indent="0">
              <a:buNone/>
            </a:pPr>
            <a:endParaRPr lang="en-US" sz="1000" dirty="0"/>
          </a:p>
          <a:p>
            <a:pPr marL="0" indent="0">
              <a:buNone/>
            </a:pPr>
            <a:r>
              <a:rPr lang="en-US" sz="1000" dirty="0">
                <a:solidFill>
                  <a:srgbClr val="D6E4F0"/>
                </a:solidFill>
                <a:latin typeface="Calibri" pitchFamily="34" charset="0"/>
                <a:ea typeface="Calibri" pitchFamily="34" charset="-122"/>
                <a:cs typeface="Calibri" pitchFamily="34" charset="-120"/>
              </a:rPr>
              <a:t>We project the entire network — every assembly plant, every supplier, every product — into memory and score all 56,083 nodes simultaneously.</a:t>
            </a:r>
          </a:p>
          <a:p>
            <a:pPr algn="l"/>
            <a:r>
              <a:rPr lang="en-US" sz="850" dirty="0">
                <a:solidFill>
                  <a:srgbClr val="00B4D8"/>
                </a:solidFill>
              </a:rPr>
              <a:t>Why PageRank over other algorithms:</a:t>
            </a:r>
          </a:p>
          <a:p>
            <a:pPr algn="l"/>
            <a:r>
              <a:rPr lang="en-US" sz="750" dirty="0">
                <a:solidFill>
                  <a:srgbClr val="D6E4F0"/>
                </a:solidFill>
              </a:rPr>
              <a:t>vs Degree Centrality: Degree only counts direct connections. PageRank propagates influence iteratively — a node connected to high-influence suppliers scores higher. Essential in a multi-tier supply chain.</a:t>
            </a:r>
          </a:p>
          <a:p>
            <a:pPr algn="l"/>
            <a:r>
              <a:rPr lang="en-US" sz="750" dirty="0">
                <a:solidFill>
                  <a:srgbClr val="D6E4F0"/>
                </a:solidFill>
              </a:rPr>
              <a:t>vs Betweenness Centrality: Betweenness measures shortest-path bottlenecks. PageRank measures influence flow — more appropriate for cascading disruption risk in production networks.</a:t>
            </a:r>
          </a:p>
          <a:p>
            <a:pPr algn="l"/>
            <a:r>
              <a:rPr lang="en-US" sz="750" dirty="0">
                <a:solidFill>
                  <a:srgbClr val="D6E4F0"/>
                </a:solidFill>
              </a:rPr>
              <a:t>vs Closeness Centrality: Closeness treats all edges equally. PageRank respects the directionality of supply flow — critical in a directed production network where materials only move one way.</a:t>
            </a:r>
            <a:endParaRPr lang="en-US" sz="1000" dirty="0"/>
          </a:p>
        </p:txBody>
      </p:sp>
      <p:sp>
        <p:nvSpPr>
          <p:cNvPr id="7" name="Shape 5"/>
          <p:cNvSpPr/>
          <p:nvPr/>
        </p:nvSpPr>
        <p:spPr>
          <a:xfrm>
            <a:off x="3913632" y="932688"/>
            <a:ext cx="4937760" cy="3547872"/>
          </a:xfrm>
          <a:prstGeom prst="rect">
            <a:avLst/>
          </a:prstGeom>
          <a:solidFill>
            <a:srgbClr val="0A1628"/>
          </a:solidFill>
          <a:ln w="8890">
            <a:solidFill>
              <a:srgbClr val="00B4D8"/>
            </a:solidFill>
            <a:prstDash val="solid"/>
          </a:ln>
        </p:spPr>
        <p:txBody>
          <a:bodyPr/>
          <a:lstStyle/>
          <a:p>
            <a:endParaRPr lang="en-US"/>
          </a:p>
        </p:txBody>
      </p:sp>
      <p:sp>
        <p:nvSpPr>
          <p:cNvPr id="8" name="Text 6"/>
          <p:cNvSpPr/>
          <p:nvPr/>
        </p:nvSpPr>
        <p:spPr>
          <a:xfrm>
            <a:off x="4005072" y="987552"/>
            <a:ext cx="4754880" cy="237744"/>
          </a:xfrm>
          <a:prstGeom prst="rect">
            <a:avLst/>
          </a:prstGeom>
          <a:noFill/>
          <a:ln/>
        </p:spPr>
        <p:txBody>
          <a:bodyPr wrap="square" rtlCol="0" anchor="ctr"/>
          <a:lstStyle/>
          <a:p>
            <a:pPr marL="0" indent="0">
              <a:buNone/>
            </a:pPr>
            <a:r>
              <a:rPr lang="en-US" sz="900" i="1" dirty="0">
                <a:solidFill>
                  <a:srgbClr val="7B96B2"/>
                </a:solidFill>
                <a:latin typeface="Calibri" pitchFamily="34" charset="0"/>
                <a:ea typeface="Calibri" pitchFamily="34" charset="-122"/>
                <a:cs typeface="Calibri" pitchFamily="34" charset="-120"/>
              </a:rPr>
              <a:t>Full PageRank results — all node types ranked by network influence</a:t>
            </a:r>
            <a:endParaRPr lang="en-US" sz="900" dirty="0"/>
          </a:p>
        </p:txBody>
      </p:sp>
      <p:pic>
        <p:nvPicPr>
          <p:cNvPr id="9" name="Image 0" descr="/home/claude/pr_table_all.png"/>
          <p:cNvPicPr>
            <a:picLocks noChangeAspect="1"/>
          </p:cNvPicPr>
          <p:nvPr/>
        </p:nvPicPr>
        <p:blipFill>
          <a:blip r:embed="rId3"/>
          <a:stretch>
            <a:fillRect/>
          </a:stretch>
        </p:blipFill>
        <p:spPr>
          <a:xfrm>
            <a:off x="3968496" y="1243584"/>
            <a:ext cx="4809744" cy="3145536"/>
          </a:xfrm>
          <a:prstGeom prst="rect">
            <a:avLst/>
          </a:prstGeom>
        </p:spPr>
      </p:pic>
      <p:sp>
        <p:nvSpPr>
          <p:cNvPr id="10" name="Text 7"/>
          <p:cNvSpPr/>
          <p:nvPr/>
        </p:nvSpPr>
        <p:spPr>
          <a:xfrm>
            <a:off x="0" y="4992624"/>
            <a:ext cx="9144000" cy="155448"/>
          </a:xfrm>
          <a:prstGeom prst="rect">
            <a:avLst/>
          </a:prstGeom>
          <a:noFill/>
          <a:ln/>
        </p:spPr>
        <p:txBody>
          <a:bodyPr wrap="square" rtlCol="0" anchor="ctr"/>
          <a:lstStyle/>
          <a:p>
            <a:pPr marL="0" indent="0" algn="ctr">
              <a:buNone/>
            </a:pPr>
            <a:r>
              <a:rPr lang="en-US" sz="700" dirty="0">
                <a:solidFill>
                  <a:srgbClr val="7B96B2"/>
                </a:solidFill>
              </a:rPr>
              <a:t>Moetz et al. (2020)  ·  Neo4j Graph Data Science  ·  Spring 2026 Capstone</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47548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PageRank Results — Top 10 Critical Facilities</a:t>
            </a:r>
            <a:endParaRPr lang="en-US" sz="2200" dirty="0"/>
          </a:p>
        </p:txBody>
      </p:sp>
      <p:sp>
        <p:nvSpPr>
          <p:cNvPr id="3" name="Text 1"/>
          <p:cNvSpPr/>
          <p:nvPr/>
        </p:nvSpPr>
        <p:spPr>
          <a:xfrm>
            <a:off x="365760" y="621792"/>
            <a:ext cx="8412480" cy="237744"/>
          </a:xfrm>
          <a:prstGeom prst="rect">
            <a:avLst/>
          </a:prstGeom>
          <a:noFill/>
          <a:ln/>
        </p:spPr>
        <p:txBody>
          <a:bodyPr wrap="square" rtlCol="0" anchor="ctr"/>
          <a:lstStyle/>
          <a:p>
            <a:pPr marL="0" indent="0">
              <a:buNone/>
            </a:pPr>
            <a:r>
              <a:rPr lang="en-US" sz="950" dirty="0">
                <a:solidFill>
                  <a:srgbClr val="7B96B2"/>
                </a:solidFill>
                <a:latin typeface="Calibri" pitchFamily="34" charset="0"/>
                <a:ea typeface="Calibri" pitchFamily="34" charset="-122"/>
                <a:cs typeface="Calibri" pitchFamily="34" charset="-120"/>
              </a:rPr>
              <a:t>GDS 1  ·  Facilities only — ranked by cascade influence across the full supply network</a:t>
            </a:r>
            <a:endParaRPr lang="en-US" sz="950" dirty="0"/>
          </a:p>
        </p:txBody>
      </p:sp>
      <p:sp>
        <p:nvSpPr>
          <p:cNvPr id="4" name="Shape 2"/>
          <p:cNvSpPr/>
          <p:nvPr/>
        </p:nvSpPr>
        <p:spPr>
          <a:xfrm>
            <a:off x="274320" y="932688"/>
            <a:ext cx="4663440" cy="2999232"/>
          </a:xfrm>
          <a:prstGeom prst="rect">
            <a:avLst/>
          </a:prstGeom>
          <a:solidFill>
            <a:srgbClr val="0A1628"/>
          </a:solidFill>
          <a:ln w="8890">
            <a:solidFill>
              <a:srgbClr val="00B4D8"/>
            </a:solidFill>
            <a:prstDash val="solid"/>
          </a:ln>
        </p:spPr>
        <p:txBody>
          <a:bodyPr/>
          <a:lstStyle/>
          <a:p>
            <a:endParaRPr lang="en-US"/>
          </a:p>
        </p:txBody>
      </p:sp>
      <p:sp>
        <p:nvSpPr>
          <p:cNvPr id="5" name="Text 3"/>
          <p:cNvSpPr/>
          <p:nvPr/>
        </p:nvSpPr>
        <p:spPr>
          <a:xfrm>
            <a:off x="365760" y="987552"/>
            <a:ext cx="4480560" cy="237744"/>
          </a:xfrm>
          <a:prstGeom prst="rect">
            <a:avLst/>
          </a:prstGeom>
          <a:noFill/>
          <a:ln/>
        </p:spPr>
        <p:txBody>
          <a:bodyPr wrap="square" rtlCol="0" anchor="ctr"/>
          <a:lstStyle/>
          <a:p>
            <a:pPr marL="0" indent="0">
              <a:buNone/>
            </a:pPr>
            <a:r>
              <a:rPr lang="en-US" sz="900" i="1" dirty="0">
                <a:solidFill>
                  <a:srgbClr val="7B96B2"/>
                </a:solidFill>
                <a:latin typeface="Calibri" pitchFamily="34" charset="0"/>
                <a:ea typeface="Calibri" pitchFamily="34" charset="-122"/>
                <a:cs typeface="Calibri" pitchFamily="34" charset="-120"/>
              </a:rPr>
              <a:t>Top 10 assembly plants and supplier sites by PageRank score</a:t>
            </a:r>
            <a:endParaRPr lang="en-US" sz="900" dirty="0"/>
          </a:p>
        </p:txBody>
      </p:sp>
      <p:pic>
        <p:nvPicPr>
          <p:cNvPr id="6" name="Image 0" descr="/home/claude/pr_table_facilities.png"/>
          <p:cNvPicPr>
            <a:picLocks noChangeAspect="1"/>
          </p:cNvPicPr>
          <p:nvPr/>
        </p:nvPicPr>
        <p:blipFill>
          <a:blip r:embed="rId3"/>
          <a:stretch>
            <a:fillRect/>
          </a:stretch>
        </p:blipFill>
        <p:spPr>
          <a:xfrm>
            <a:off x="329184" y="1243584"/>
            <a:ext cx="4553712" cy="2633472"/>
          </a:xfrm>
          <a:prstGeom prst="rect">
            <a:avLst/>
          </a:prstGeom>
        </p:spPr>
      </p:pic>
      <p:sp>
        <p:nvSpPr>
          <p:cNvPr id="7" name="Shape 4"/>
          <p:cNvSpPr/>
          <p:nvPr/>
        </p:nvSpPr>
        <p:spPr>
          <a:xfrm>
            <a:off x="5120640" y="932688"/>
            <a:ext cx="3749040" cy="2999232"/>
          </a:xfrm>
          <a:prstGeom prst="rect">
            <a:avLst/>
          </a:prstGeom>
          <a:solidFill>
            <a:srgbClr val="112233"/>
          </a:solidFill>
          <a:ln w="8890">
            <a:solidFill>
              <a:srgbClr val="00B4D8"/>
            </a:solidFill>
            <a:prstDash val="solid"/>
          </a:ln>
        </p:spPr>
        <p:txBody>
          <a:bodyPr/>
          <a:lstStyle/>
          <a:p>
            <a:endParaRPr lang="en-US"/>
          </a:p>
        </p:txBody>
      </p:sp>
      <p:sp>
        <p:nvSpPr>
          <p:cNvPr id="8" name="Text 5"/>
          <p:cNvSpPr/>
          <p:nvPr/>
        </p:nvSpPr>
        <p:spPr>
          <a:xfrm>
            <a:off x="5230368" y="1005840"/>
            <a:ext cx="3529584" cy="256032"/>
          </a:xfrm>
          <a:prstGeom prst="rect">
            <a:avLst/>
          </a:prstGeom>
          <a:noFill/>
          <a:ln/>
        </p:spPr>
        <p:txBody>
          <a:bodyPr wrap="square" rtlCol="0" anchor="ctr"/>
          <a:lstStyle/>
          <a:p>
            <a:pPr marL="0" indent="0">
              <a:buNone/>
            </a:pPr>
            <a:r>
              <a:rPr lang="en-US" sz="1100" b="1" dirty="0">
                <a:solidFill>
                  <a:srgbClr val="00B4D8"/>
                </a:solidFill>
                <a:latin typeface="Calibri" pitchFamily="34" charset="0"/>
                <a:ea typeface="Calibri" pitchFamily="34" charset="-122"/>
                <a:cs typeface="Calibri" pitchFamily="34" charset="-120"/>
              </a:rPr>
              <a:t>What this means for the business</a:t>
            </a:r>
            <a:endParaRPr lang="en-US" sz="1100" dirty="0"/>
          </a:p>
        </p:txBody>
      </p:sp>
      <p:sp>
        <p:nvSpPr>
          <p:cNvPr id="9" name="Shape 6"/>
          <p:cNvSpPr/>
          <p:nvPr/>
        </p:nvSpPr>
        <p:spPr>
          <a:xfrm>
            <a:off x="5193792" y="1316736"/>
            <a:ext cx="3602736" cy="804672"/>
          </a:xfrm>
          <a:prstGeom prst="rect">
            <a:avLst/>
          </a:prstGeom>
          <a:solidFill>
            <a:srgbClr val="0A1628"/>
          </a:solidFill>
          <a:ln w="12700">
            <a:solidFill>
              <a:srgbClr val="0A1628"/>
            </a:solidFill>
            <a:prstDash val="solid"/>
          </a:ln>
        </p:spPr>
        <p:txBody>
          <a:bodyPr/>
          <a:lstStyle/>
          <a:p>
            <a:endParaRPr lang="en-US"/>
          </a:p>
        </p:txBody>
      </p:sp>
      <p:sp>
        <p:nvSpPr>
          <p:cNvPr id="10" name="Text 7"/>
          <p:cNvSpPr/>
          <p:nvPr/>
        </p:nvSpPr>
        <p:spPr>
          <a:xfrm>
            <a:off x="5285232" y="1353312"/>
            <a:ext cx="3419856" cy="237744"/>
          </a:xfrm>
          <a:prstGeom prst="rect">
            <a:avLst/>
          </a:prstGeom>
          <a:noFill/>
          <a:ln/>
        </p:spPr>
        <p:txBody>
          <a:bodyPr wrap="square" rtlCol="0" anchor="ctr"/>
          <a:lstStyle/>
          <a:p>
            <a:pPr marL="0" indent="0">
              <a:buNone/>
            </a:pPr>
            <a:r>
              <a:rPr lang="en-US" sz="900" b="1" dirty="0">
                <a:solidFill>
                  <a:srgbClr val="F4A261"/>
                </a:solidFill>
                <a:latin typeface="Calibri" pitchFamily="34" charset="0"/>
                <a:ea typeface="Calibri" pitchFamily="34" charset="-122"/>
                <a:cs typeface="Calibri" pitchFamily="34" charset="-120"/>
              </a:rPr>
              <a:t>zp8 &amp; zp7 (OEM Plants)  (0.94 / 0.93)</a:t>
            </a:r>
            <a:endParaRPr lang="en-US" sz="900" dirty="0"/>
          </a:p>
        </p:txBody>
      </p:sp>
      <p:sp>
        <p:nvSpPr>
          <p:cNvPr id="11" name="Text 8"/>
          <p:cNvSpPr/>
          <p:nvPr/>
        </p:nvSpPr>
        <p:spPr>
          <a:xfrm>
            <a:off x="5285232" y="1591056"/>
            <a:ext cx="3419856" cy="493776"/>
          </a:xfrm>
          <a:prstGeom prst="rect">
            <a:avLst/>
          </a:prstGeom>
          <a:noFill/>
          <a:ln/>
        </p:spPr>
        <p:txBody>
          <a:bodyPr wrap="square" rtlCol="0" anchor="t"/>
          <a:lstStyle/>
          <a:p>
            <a:pPr marL="0" indent="0">
              <a:buNone/>
            </a:pPr>
            <a:r>
              <a:rPr lang="en-US" sz="900" dirty="0">
                <a:solidFill>
                  <a:srgbClr val="D6E4F0"/>
                </a:solidFill>
                <a:latin typeface="Calibri" pitchFamily="34" charset="0"/>
                <a:ea typeface="Calibri" pitchFamily="34" charset="-122"/>
                <a:cs typeface="Calibri" pitchFamily="34" charset="-120"/>
              </a:rPr>
              <a:t>Final assembly plants score highest. Every component from every supplier converges here. A stoppage at either plant halts the entire vehicle production line.</a:t>
            </a:r>
            <a:endParaRPr lang="en-US" sz="900" dirty="0"/>
          </a:p>
        </p:txBody>
      </p:sp>
      <p:sp>
        <p:nvSpPr>
          <p:cNvPr id="12" name="Shape 9"/>
          <p:cNvSpPr/>
          <p:nvPr/>
        </p:nvSpPr>
        <p:spPr>
          <a:xfrm>
            <a:off x="5193792" y="2194560"/>
            <a:ext cx="3602736" cy="804672"/>
          </a:xfrm>
          <a:prstGeom prst="rect">
            <a:avLst/>
          </a:prstGeom>
          <a:solidFill>
            <a:srgbClr val="0A1628"/>
          </a:solidFill>
          <a:ln w="12700">
            <a:solidFill>
              <a:srgbClr val="0A1628"/>
            </a:solidFill>
            <a:prstDash val="solid"/>
          </a:ln>
        </p:spPr>
        <p:txBody>
          <a:bodyPr/>
          <a:lstStyle/>
          <a:p>
            <a:endParaRPr lang="en-US"/>
          </a:p>
        </p:txBody>
      </p:sp>
      <p:sp>
        <p:nvSpPr>
          <p:cNvPr id="13" name="Text 10"/>
          <p:cNvSpPr/>
          <p:nvPr/>
        </p:nvSpPr>
        <p:spPr>
          <a:xfrm>
            <a:off x="5285232" y="2231136"/>
            <a:ext cx="3419856" cy="237744"/>
          </a:xfrm>
          <a:prstGeom prst="rect">
            <a:avLst/>
          </a:prstGeom>
          <a:noFill/>
          <a:ln/>
        </p:spPr>
        <p:txBody>
          <a:bodyPr wrap="square" rtlCol="0" anchor="ctr"/>
          <a:lstStyle/>
          <a:p>
            <a:pPr marL="0" indent="0">
              <a:buNone/>
            </a:pPr>
            <a:r>
              <a:rPr lang="en-US" sz="900" b="1" dirty="0">
                <a:solidFill>
                  <a:srgbClr val="F4A261"/>
                </a:solidFill>
                <a:latin typeface="Calibri" pitchFamily="34" charset="0"/>
                <a:ea typeface="Calibri" pitchFamily="34" charset="-122"/>
                <a:cs typeface="Calibri" pitchFamily="34" charset="-120"/>
              </a:rPr>
              <a:t>battery-supplier_inv</a:t>
            </a:r>
            <a:endParaRPr lang="en-US" sz="900" dirty="0"/>
          </a:p>
          <a:p>
            <a:pPr marL="0" indent="0">
              <a:buNone/>
            </a:pPr>
            <a:r>
              <a:rPr lang="en-US" sz="900" b="1" dirty="0">
                <a:solidFill>
                  <a:srgbClr val="F4A261"/>
                </a:solidFill>
                <a:latin typeface="Calibri" pitchFamily="34" charset="0"/>
                <a:ea typeface="Calibri" pitchFamily="34" charset="-122"/>
                <a:cs typeface="Calibri" pitchFamily="34" charset="-120"/>
              </a:rPr>
              <a:t>seat-supplier_inv  (0.30 / 0.30)</a:t>
            </a:r>
            <a:endParaRPr lang="en-US" sz="900" dirty="0"/>
          </a:p>
        </p:txBody>
      </p:sp>
      <p:sp>
        <p:nvSpPr>
          <p:cNvPr id="14" name="Text 11"/>
          <p:cNvSpPr/>
          <p:nvPr/>
        </p:nvSpPr>
        <p:spPr>
          <a:xfrm>
            <a:off x="5285232" y="2468880"/>
            <a:ext cx="3419856" cy="493776"/>
          </a:xfrm>
          <a:prstGeom prst="rect">
            <a:avLst/>
          </a:prstGeom>
          <a:noFill/>
          <a:ln/>
        </p:spPr>
        <p:txBody>
          <a:bodyPr wrap="square" rtlCol="0" anchor="t"/>
          <a:lstStyle/>
          <a:p>
            <a:pPr marL="0" indent="0">
              <a:buNone/>
            </a:pPr>
            <a:r>
              <a:rPr lang="en-US" sz="900" dirty="0">
                <a:solidFill>
                  <a:srgbClr val="D6E4F0"/>
                </a:solidFill>
                <a:latin typeface="Calibri" pitchFamily="34" charset="0"/>
                <a:ea typeface="Calibri" pitchFamily="34" charset="-122"/>
                <a:cs typeface="Calibri" pitchFamily="34" charset="-120"/>
              </a:rPr>
              <a:t>Tier-1 inventory hubs for battery packs and seat assemblies. These are the last buffer before the OEM plant — the thinnest safety net in the chain.</a:t>
            </a:r>
            <a:endParaRPr lang="en-US" sz="900" dirty="0"/>
          </a:p>
        </p:txBody>
      </p:sp>
      <p:sp>
        <p:nvSpPr>
          <p:cNvPr id="15" name="Shape 12"/>
          <p:cNvSpPr/>
          <p:nvPr/>
        </p:nvSpPr>
        <p:spPr>
          <a:xfrm>
            <a:off x="5193792" y="3072384"/>
            <a:ext cx="3602736" cy="804672"/>
          </a:xfrm>
          <a:prstGeom prst="rect">
            <a:avLst/>
          </a:prstGeom>
          <a:solidFill>
            <a:srgbClr val="0A1628"/>
          </a:solidFill>
          <a:ln w="12700">
            <a:solidFill>
              <a:srgbClr val="0A1628"/>
            </a:solidFill>
            <a:prstDash val="solid"/>
          </a:ln>
        </p:spPr>
        <p:txBody>
          <a:bodyPr/>
          <a:lstStyle/>
          <a:p>
            <a:endParaRPr lang="en-US"/>
          </a:p>
        </p:txBody>
      </p:sp>
      <p:sp>
        <p:nvSpPr>
          <p:cNvPr id="16" name="Text 13"/>
          <p:cNvSpPr/>
          <p:nvPr/>
        </p:nvSpPr>
        <p:spPr>
          <a:xfrm>
            <a:off x="5285232" y="3108960"/>
            <a:ext cx="3419856" cy="237744"/>
          </a:xfrm>
          <a:prstGeom prst="rect">
            <a:avLst/>
          </a:prstGeom>
          <a:noFill/>
          <a:ln/>
        </p:spPr>
        <p:txBody>
          <a:bodyPr wrap="square" rtlCol="0" anchor="ctr"/>
          <a:lstStyle/>
          <a:p>
            <a:pPr marL="0" indent="0">
              <a:buNone/>
            </a:pPr>
            <a:r>
              <a:rPr lang="en-US" sz="900" b="1" dirty="0">
                <a:solidFill>
                  <a:srgbClr val="F4A261"/>
                </a:solidFill>
                <a:latin typeface="Calibri" pitchFamily="34" charset="0"/>
                <a:ea typeface="Calibri" pitchFamily="34" charset="-122"/>
                <a:cs typeface="Calibri" pitchFamily="34" charset="-120"/>
              </a:rPr>
              <a:t>Gear &amp; engine</a:t>
            </a:r>
            <a:endParaRPr lang="en-US" sz="900" dirty="0"/>
          </a:p>
          <a:p>
            <a:pPr marL="0" indent="0">
              <a:buNone/>
            </a:pPr>
            <a:r>
              <a:rPr lang="en-US" sz="900" b="1" dirty="0">
                <a:solidFill>
                  <a:srgbClr val="F4A261"/>
                </a:solidFill>
                <a:latin typeface="Calibri" pitchFamily="34" charset="0"/>
                <a:ea typeface="Calibri" pitchFamily="34" charset="-122"/>
                <a:cs typeface="Calibri" pitchFamily="34" charset="-120"/>
              </a:rPr>
              <a:t>Tier-1 nodes  (~0.15–0.18)</a:t>
            </a:r>
            <a:endParaRPr lang="en-US" sz="900" dirty="0"/>
          </a:p>
        </p:txBody>
      </p:sp>
      <p:sp>
        <p:nvSpPr>
          <p:cNvPr id="17" name="Text 14"/>
          <p:cNvSpPr/>
          <p:nvPr/>
        </p:nvSpPr>
        <p:spPr>
          <a:xfrm>
            <a:off x="5285232" y="3346704"/>
            <a:ext cx="3419856" cy="493776"/>
          </a:xfrm>
          <a:prstGeom prst="rect">
            <a:avLst/>
          </a:prstGeom>
          <a:noFill/>
          <a:ln/>
        </p:spPr>
        <p:txBody>
          <a:bodyPr wrap="square" rtlCol="0" anchor="t"/>
          <a:lstStyle/>
          <a:p>
            <a:pPr marL="0" indent="0">
              <a:buNone/>
            </a:pPr>
            <a:r>
              <a:rPr lang="en-US" sz="900" dirty="0">
                <a:solidFill>
                  <a:srgbClr val="D6E4F0"/>
                </a:solidFill>
                <a:latin typeface="Calibri" pitchFamily="34" charset="0"/>
                <a:ea typeface="Calibri" pitchFamily="34" charset="-122"/>
                <a:cs typeface="Calibri" pitchFamily="34" charset="-120"/>
              </a:rPr>
              <a:t>Mid-tier influence. Important but have more redundant sourcing paths than battery and seat.</a:t>
            </a:r>
            <a:endParaRPr lang="en-US" sz="900" dirty="0"/>
          </a:p>
        </p:txBody>
      </p:sp>
      <p:sp>
        <p:nvSpPr>
          <p:cNvPr id="18" name="Text 15"/>
          <p:cNvSpPr/>
          <p:nvPr/>
        </p:nvSpPr>
        <p:spPr>
          <a:xfrm>
            <a:off x="0" y="4992624"/>
            <a:ext cx="9144000" cy="155448"/>
          </a:xfrm>
          <a:prstGeom prst="rect">
            <a:avLst/>
          </a:prstGeom>
          <a:noFill/>
          <a:ln/>
        </p:spPr>
        <p:txBody>
          <a:bodyPr wrap="square" rtlCol="0" anchor="ctr"/>
          <a:lstStyle/>
          <a:p>
            <a:pPr marL="0" indent="0" algn="ctr">
              <a:buNone/>
            </a:pPr>
            <a:r>
              <a:rPr lang="en-US" sz="700" dirty="0">
                <a:solidFill>
                  <a:srgbClr val="7B96B2"/>
                </a:solidFill>
              </a:rPr>
              <a:t>Moetz et al. (2020)  ·  Neo4j Graph Data Science  ·  Spring 2026 Capstone</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47548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PageRank — Visualised: The Cascade Risk Hierarchy</a:t>
            </a:r>
            <a:endParaRPr lang="en-US" sz="2200" dirty="0"/>
          </a:p>
        </p:txBody>
      </p:sp>
      <p:sp>
        <p:nvSpPr>
          <p:cNvPr id="3" name="Text 1"/>
          <p:cNvSpPr/>
          <p:nvPr/>
        </p:nvSpPr>
        <p:spPr>
          <a:xfrm>
            <a:off x="365760" y="621792"/>
            <a:ext cx="8412480" cy="237744"/>
          </a:xfrm>
          <a:prstGeom prst="rect">
            <a:avLst/>
          </a:prstGeom>
          <a:noFill/>
          <a:ln/>
        </p:spPr>
        <p:txBody>
          <a:bodyPr wrap="square" rtlCol="0" anchor="ctr"/>
          <a:lstStyle/>
          <a:p>
            <a:pPr marL="0" indent="0">
              <a:buNone/>
            </a:pPr>
            <a:r>
              <a:rPr lang="en-US" sz="950" dirty="0">
                <a:solidFill>
                  <a:srgbClr val="7B96B2"/>
                </a:solidFill>
                <a:latin typeface="Calibri" pitchFamily="34" charset="0"/>
                <a:ea typeface="Calibri" pitchFamily="34" charset="-122"/>
                <a:cs typeface="Calibri" pitchFamily="34" charset="-120"/>
              </a:rPr>
              <a:t>GDS 1  ·  Higher score = greater cascade risk if this facility is disrupted</a:t>
            </a:r>
            <a:endParaRPr lang="en-US" sz="950" dirty="0"/>
          </a:p>
        </p:txBody>
      </p:sp>
      <p:sp>
        <p:nvSpPr>
          <p:cNvPr id="4" name="Shape 2"/>
          <p:cNvSpPr/>
          <p:nvPr/>
        </p:nvSpPr>
        <p:spPr>
          <a:xfrm>
            <a:off x="274320" y="932688"/>
            <a:ext cx="5577840" cy="3310128"/>
          </a:xfrm>
          <a:prstGeom prst="rect">
            <a:avLst/>
          </a:prstGeom>
          <a:solidFill>
            <a:srgbClr val="0A1628"/>
          </a:solidFill>
          <a:ln w="8890">
            <a:solidFill>
              <a:srgbClr val="00B4D8"/>
            </a:solidFill>
            <a:prstDash val="solid"/>
          </a:ln>
        </p:spPr>
        <p:txBody>
          <a:bodyPr/>
          <a:lstStyle/>
          <a:p>
            <a:endParaRPr lang="en-US"/>
          </a:p>
        </p:txBody>
      </p:sp>
      <p:sp>
        <p:nvSpPr>
          <p:cNvPr id="5" name="Text 3"/>
          <p:cNvSpPr/>
          <p:nvPr/>
        </p:nvSpPr>
        <p:spPr>
          <a:xfrm>
            <a:off x="365760" y="987552"/>
            <a:ext cx="5394960" cy="219456"/>
          </a:xfrm>
          <a:prstGeom prst="rect">
            <a:avLst/>
          </a:prstGeom>
          <a:noFill/>
          <a:ln/>
        </p:spPr>
        <p:txBody>
          <a:bodyPr wrap="square" rtlCol="0" anchor="ctr"/>
          <a:lstStyle/>
          <a:p>
            <a:pPr marL="0" indent="0">
              <a:buNone/>
            </a:pPr>
            <a:r>
              <a:rPr lang="en-US" sz="900" i="1" dirty="0">
                <a:solidFill>
                  <a:srgbClr val="7B96B2"/>
                </a:solidFill>
                <a:latin typeface="Calibri" pitchFamily="34" charset="0"/>
                <a:ea typeface="Calibri" pitchFamily="34" charset="-122"/>
                <a:cs typeface="Calibri" pitchFamily="34" charset="-120"/>
              </a:rPr>
              <a:t>Critical facilities by PageRank score — zp8 and zp7 dominate</a:t>
            </a:r>
            <a:endParaRPr lang="en-US" sz="900" dirty="0"/>
          </a:p>
        </p:txBody>
      </p:sp>
      <p:pic>
        <p:nvPicPr>
          <p:cNvPr id="6" name="Image 0" descr="/home/claude/pr_chart.png"/>
          <p:cNvPicPr>
            <a:picLocks noChangeAspect="1"/>
          </p:cNvPicPr>
          <p:nvPr/>
        </p:nvPicPr>
        <p:blipFill>
          <a:blip r:embed="rId3"/>
          <a:stretch>
            <a:fillRect/>
          </a:stretch>
        </p:blipFill>
        <p:spPr>
          <a:xfrm>
            <a:off x="329184" y="1225296"/>
            <a:ext cx="5468112" cy="2962656"/>
          </a:xfrm>
          <a:prstGeom prst="rect">
            <a:avLst/>
          </a:prstGeom>
        </p:spPr>
      </p:pic>
      <p:sp>
        <p:nvSpPr>
          <p:cNvPr id="7" name="Shape 4"/>
          <p:cNvSpPr/>
          <p:nvPr/>
        </p:nvSpPr>
        <p:spPr>
          <a:xfrm>
            <a:off x="6016752" y="932688"/>
            <a:ext cx="2852928" cy="3310128"/>
          </a:xfrm>
          <a:prstGeom prst="rect">
            <a:avLst/>
          </a:prstGeom>
          <a:solidFill>
            <a:srgbClr val="112233"/>
          </a:solidFill>
          <a:ln w="8890">
            <a:solidFill>
              <a:srgbClr val="00B4D8"/>
            </a:solidFill>
            <a:prstDash val="solid"/>
          </a:ln>
        </p:spPr>
        <p:txBody>
          <a:bodyPr/>
          <a:lstStyle/>
          <a:p>
            <a:endParaRPr lang="en-US"/>
          </a:p>
        </p:txBody>
      </p:sp>
      <p:sp>
        <p:nvSpPr>
          <p:cNvPr id="8" name="Text 5"/>
          <p:cNvSpPr/>
          <p:nvPr/>
        </p:nvSpPr>
        <p:spPr>
          <a:xfrm>
            <a:off x="6126480" y="1005840"/>
            <a:ext cx="2651760" cy="256032"/>
          </a:xfrm>
          <a:prstGeom prst="rect">
            <a:avLst/>
          </a:prstGeom>
          <a:noFill/>
          <a:ln/>
        </p:spPr>
        <p:txBody>
          <a:bodyPr wrap="square" rtlCol="0" anchor="ctr"/>
          <a:lstStyle/>
          <a:p>
            <a:pPr marL="0" indent="0">
              <a:buNone/>
            </a:pPr>
            <a:r>
              <a:rPr lang="en-US" sz="1100" b="1" dirty="0">
                <a:solidFill>
                  <a:srgbClr val="00B4D8"/>
                </a:solidFill>
                <a:latin typeface="Calibri" pitchFamily="34" charset="0"/>
                <a:ea typeface="Calibri" pitchFamily="34" charset="-122"/>
                <a:cs typeface="Calibri" pitchFamily="34" charset="-120"/>
              </a:rPr>
              <a:t>Key Takeaways</a:t>
            </a:r>
            <a:endParaRPr lang="en-US" sz="1100" dirty="0"/>
          </a:p>
        </p:txBody>
      </p:sp>
      <p:sp>
        <p:nvSpPr>
          <p:cNvPr id="9" name="Text 6"/>
          <p:cNvSpPr/>
          <p:nvPr/>
        </p:nvSpPr>
        <p:spPr>
          <a:xfrm>
            <a:off x="6126480" y="1335024"/>
            <a:ext cx="274320" cy="640080"/>
          </a:xfrm>
          <a:prstGeom prst="rect">
            <a:avLst/>
          </a:prstGeom>
          <a:noFill/>
          <a:ln/>
        </p:spPr>
        <p:txBody>
          <a:bodyPr wrap="square" rtlCol="0" anchor="ctr"/>
          <a:lstStyle/>
          <a:p>
            <a:pPr marL="0" indent="0">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10" name="Text 7"/>
          <p:cNvSpPr/>
          <p:nvPr/>
        </p:nvSpPr>
        <p:spPr>
          <a:xfrm>
            <a:off x="6455664" y="1335024"/>
            <a:ext cx="2340864" cy="676656"/>
          </a:xfrm>
          <a:prstGeom prst="rect">
            <a:avLst/>
          </a:prstGeom>
          <a:noFill/>
          <a:ln/>
        </p:spPr>
        <p:txBody>
          <a:bodyPr wrap="square" rtlCol="0" anchor="t"/>
          <a:lstStyle/>
          <a:p>
            <a:pPr marL="0" indent="0">
              <a:buNone/>
            </a:pPr>
            <a:r>
              <a:rPr lang="en-US" sz="950" dirty="0">
                <a:solidFill>
                  <a:srgbClr val="D6E4F0"/>
                </a:solidFill>
                <a:latin typeface="Calibri" pitchFamily="34" charset="0"/>
                <a:ea typeface="Calibri" pitchFamily="34" charset="-122"/>
                <a:cs typeface="Calibri" pitchFamily="34" charset="-120"/>
              </a:rPr>
              <a:t>zp7 &amp; zp8 are in a completely different risk category — their scores (~0.94) are 3× higher than all Tier-1 suppliers</a:t>
            </a:r>
            <a:endParaRPr lang="en-US" sz="950" dirty="0"/>
          </a:p>
        </p:txBody>
      </p:sp>
      <p:sp>
        <p:nvSpPr>
          <p:cNvPr id="11" name="Text 8"/>
          <p:cNvSpPr/>
          <p:nvPr/>
        </p:nvSpPr>
        <p:spPr>
          <a:xfrm>
            <a:off x="6126480" y="2084832"/>
            <a:ext cx="274320" cy="640080"/>
          </a:xfrm>
          <a:prstGeom prst="rect">
            <a:avLst/>
          </a:prstGeom>
          <a:noFill/>
          <a:ln/>
        </p:spPr>
        <p:txBody>
          <a:bodyPr wrap="square" rtlCol="0" anchor="ctr"/>
          <a:lstStyle/>
          <a:p>
            <a:pPr marL="0" indent="0">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12" name="Text 9"/>
          <p:cNvSpPr/>
          <p:nvPr/>
        </p:nvSpPr>
        <p:spPr>
          <a:xfrm>
            <a:off x="6455664" y="2084832"/>
            <a:ext cx="2340864" cy="676656"/>
          </a:xfrm>
          <a:prstGeom prst="rect">
            <a:avLst/>
          </a:prstGeom>
          <a:noFill/>
          <a:ln/>
        </p:spPr>
        <p:txBody>
          <a:bodyPr wrap="square" rtlCol="0" anchor="t"/>
          <a:lstStyle/>
          <a:p>
            <a:pPr marL="0" indent="0">
              <a:buNone/>
            </a:pPr>
            <a:r>
              <a:rPr lang="en-US" sz="950" dirty="0">
                <a:solidFill>
                  <a:srgbClr val="D6E4F0"/>
                </a:solidFill>
                <a:latin typeface="Calibri" pitchFamily="34" charset="0"/>
                <a:ea typeface="Calibri" pitchFamily="34" charset="-122"/>
                <a:cs typeface="Calibri" pitchFamily="34" charset="-120"/>
              </a:rPr>
              <a:t>battery-supplier_inv and seat-supplier_inv are the most exposed Tier-1 nodes — thin buffers feeding the OEM chokepoint</a:t>
            </a:r>
            <a:endParaRPr lang="en-US" sz="950" dirty="0"/>
          </a:p>
        </p:txBody>
      </p:sp>
      <p:sp>
        <p:nvSpPr>
          <p:cNvPr id="13" name="Text 10"/>
          <p:cNvSpPr/>
          <p:nvPr/>
        </p:nvSpPr>
        <p:spPr>
          <a:xfrm>
            <a:off x="6126480" y="2834640"/>
            <a:ext cx="274320" cy="640080"/>
          </a:xfrm>
          <a:prstGeom prst="rect">
            <a:avLst/>
          </a:prstGeom>
          <a:noFill/>
          <a:ln/>
        </p:spPr>
        <p:txBody>
          <a:bodyPr wrap="square" rtlCol="0" anchor="ctr"/>
          <a:lstStyle/>
          <a:p>
            <a:pPr marL="0" indent="0">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14" name="Text 11"/>
          <p:cNvSpPr/>
          <p:nvPr/>
        </p:nvSpPr>
        <p:spPr>
          <a:xfrm>
            <a:off x="6455664" y="2834640"/>
            <a:ext cx="2340864" cy="676656"/>
          </a:xfrm>
          <a:prstGeom prst="rect">
            <a:avLst/>
          </a:prstGeom>
          <a:noFill/>
          <a:ln/>
        </p:spPr>
        <p:txBody>
          <a:bodyPr wrap="square" rtlCol="0" anchor="t"/>
          <a:lstStyle/>
          <a:p>
            <a:pPr marL="0" indent="0">
              <a:buNone/>
            </a:pPr>
            <a:r>
              <a:rPr lang="en-US" sz="950" dirty="0">
                <a:solidFill>
                  <a:srgbClr val="D6E4F0"/>
                </a:solidFill>
                <a:latin typeface="Calibri" pitchFamily="34" charset="0"/>
                <a:ea typeface="Calibri" pitchFamily="34" charset="-122"/>
                <a:cs typeface="Calibri" pitchFamily="34" charset="-120"/>
              </a:rPr>
              <a:t>Gear and engine nodes carry distributed risk — important but not single points of failure</a:t>
            </a:r>
            <a:endParaRPr lang="en-US" sz="950" dirty="0"/>
          </a:p>
        </p:txBody>
      </p:sp>
      <p:sp>
        <p:nvSpPr>
          <p:cNvPr id="15" name="Text 12"/>
          <p:cNvSpPr/>
          <p:nvPr/>
        </p:nvSpPr>
        <p:spPr>
          <a:xfrm>
            <a:off x="6126480" y="3584448"/>
            <a:ext cx="274320" cy="640080"/>
          </a:xfrm>
          <a:prstGeom prst="rect">
            <a:avLst/>
          </a:prstGeom>
          <a:noFill/>
          <a:ln/>
        </p:spPr>
        <p:txBody>
          <a:bodyPr wrap="square" rtlCol="0" anchor="ctr"/>
          <a:lstStyle/>
          <a:p>
            <a:pPr marL="0" indent="0">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16" name="Text 13"/>
          <p:cNvSpPr/>
          <p:nvPr/>
        </p:nvSpPr>
        <p:spPr>
          <a:xfrm>
            <a:off x="6455664" y="3584448"/>
            <a:ext cx="2340864" cy="676656"/>
          </a:xfrm>
          <a:prstGeom prst="rect">
            <a:avLst/>
          </a:prstGeom>
          <a:noFill/>
          <a:ln/>
        </p:spPr>
        <p:txBody>
          <a:bodyPr wrap="square" rtlCol="0" anchor="t"/>
          <a:lstStyle/>
          <a:p>
            <a:pPr marL="0" indent="0">
              <a:buNone/>
            </a:pPr>
            <a:r>
              <a:rPr lang="en-US" sz="950" dirty="0">
                <a:solidFill>
                  <a:srgbClr val="D6E4F0"/>
                </a:solidFill>
                <a:latin typeface="Calibri" pitchFamily="34" charset="0"/>
                <a:ea typeface="Calibri" pitchFamily="34" charset="-122"/>
                <a:cs typeface="Calibri" pitchFamily="34" charset="-120"/>
              </a:rPr>
              <a:t>Transit nodes score lowest — they are pass-through corridors, not consolidation points</a:t>
            </a:r>
            <a:endParaRPr lang="en-US" sz="950" dirty="0"/>
          </a:p>
        </p:txBody>
      </p:sp>
      <p:sp>
        <p:nvSpPr>
          <p:cNvPr id="17" name="Text 14"/>
          <p:cNvSpPr/>
          <p:nvPr/>
        </p:nvSpPr>
        <p:spPr>
          <a:xfrm>
            <a:off x="0" y="4992624"/>
            <a:ext cx="9144000" cy="155448"/>
          </a:xfrm>
          <a:prstGeom prst="rect">
            <a:avLst/>
          </a:prstGeom>
          <a:noFill/>
          <a:ln/>
        </p:spPr>
        <p:txBody>
          <a:bodyPr wrap="square" rtlCol="0" anchor="ctr"/>
          <a:lstStyle/>
          <a:p>
            <a:pPr marL="0" indent="0" algn="ctr">
              <a:buNone/>
            </a:pPr>
            <a:r>
              <a:rPr lang="en-US" sz="700" dirty="0">
                <a:solidFill>
                  <a:srgbClr val="7B96B2"/>
                </a:solidFill>
              </a:rPr>
              <a:t>Moetz et al. (2020)  ·  Neo4j Graph Data Science  ·  Spring 2026 Capstone</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47548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Leiden Community Detection — Natural Planning Zones in the BOM</a:t>
            </a:r>
            <a:endParaRPr lang="en-US" sz="2200" dirty="0"/>
          </a:p>
        </p:txBody>
      </p:sp>
      <p:sp>
        <p:nvSpPr>
          <p:cNvPr id="3" name="Text 1"/>
          <p:cNvSpPr/>
          <p:nvPr/>
        </p:nvSpPr>
        <p:spPr>
          <a:xfrm>
            <a:off x="365760" y="621792"/>
            <a:ext cx="8412480" cy="237744"/>
          </a:xfrm>
          <a:prstGeom prst="rect">
            <a:avLst/>
          </a:prstGeom>
          <a:noFill/>
          <a:ln/>
        </p:spPr>
        <p:txBody>
          <a:bodyPr wrap="square" rtlCol="0" anchor="ctr"/>
          <a:lstStyle/>
          <a:p>
            <a:pPr marL="0" indent="0">
              <a:buNone/>
            </a:pPr>
            <a:r>
              <a:rPr lang="en-US" sz="950" dirty="0">
                <a:solidFill>
                  <a:srgbClr val="7B96B2"/>
                </a:solidFill>
                <a:latin typeface="Calibri" pitchFamily="34" charset="0"/>
                <a:ea typeface="Calibri" pitchFamily="34" charset="-122"/>
                <a:cs typeface="Calibri" pitchFamily="34" charset="-120"/>
              </a:rPr>
              <a:t>GDS 2  ·  Product-only projection: 28,049 products  ·  174,118 bill-of-materials edges  ·  quantity-weighted</a:t>
            </a:r>
            <a:endParaRPr lang="en-US" sz="950" dirty="0"/>
          </a:p>
        </p:txBody>
      </p:sp>
      <p:sp>
        <p:nvSpPr>
          <p:cNvPr id="4" name="Shape 2"/>
          <p:cNvSpPr/>
          <p:nvPr/>
        </p:nvSpPr>
        <p:spPr>
          <a:xfrm>
            <a:off x="274320" y="932688"/>
            <a:ext cx="3474720" cy="3547872"/>
          </a:xfrm>
          <a:prstGeom prst="rect">
            <a:avLst/>
          </a:prstGeom>
          <a:solidFill>
            <a:srgbClr val="112233"/>
          </a:solidFill>
          <a:ln w="8890">
            <a:solidFill>
              <a:srgbClr val="7B5EA7"/>
            </a:solidFill>
            <a:prstDash val="solid"/>
          </a:ln>
        </p:spPr>
        <p:txBody>
          <a:bodyPr/>
          <a:lstStyle/>
          <a:p>
            <a:endParaRPr lang="en-US"/>
          </a:p>
        </p:txBody>
      </p:sp>
      <p:sp>
        <p:nvSpPr>
          <p:cNvPr id="5" name="Text 3"/>
          <p:cNvSpPr/>
          <p:nvPr/>
        </p:nvSpPr>
        <p:spPr>
          <a:xfrm>
            <a:off x="402336" y="1005840"/>
            <a:ext cx="3218688" cy="256032"/>
          </a:xfrm>
          <a:prstGeom prst="rect">
            <a:avLst/>
          </a:prstGeom>
          <a:noFill/>
          <a:ln/>
        </p:spPr>
        <p:txBody>
          <a:bodyPr wrap="square" rtlCol="0" anchor="ctr"/>
          <a:lstStyle/>
          <a:p>
            <a:pPr marL="0" indent="0">
              <a:buNone/>
            </a:pPr>
            <a:r>
              <a:rPr lang="en-US" sz="1100" b="1" dirty="0">
                <a:solidFill>
                  <a:srgbClr val="7B5EA7"/>
                </a:solidFill>
                <a:latin typeface="Calibri" pitchFamily="34" charset="0"/>
                <a:ea typeface="Calibri" pitchFamily="34" charset="-122"/>
                <a:cs typeface="Calibri" pitchFamily="34" charset="-120"/>
              </a:rPr>
              <a:t>How it works</a:t>
            </a:r>
            <a:endParaRPr lang="en-US" sz="1100" dirty="0"/>
          </a:p>
        </p:txBody>
      </p:sp>
      <p:sp>
        <p:nvSpPr>
          <p:cNvPr id="6" name="Text 4"/>
          <p:cNvSpPr/>
          <p:nvPr/>
        </p:nvSpPr>
        <p:spPr>
          <a:xfrm>
            <a:off x="402336" y="1316736"/>
            <a:ext cx="3218688" cy="3072384"/>
          </a:xfrm>
          <a:prstGeom prst="rect">
            <a:avLst/>
          </a:prstGeom>
          <a:noFill/>
          <a:ln/>
        </p:spPr>
        <p:txBody>
          <a:bodyPr wrap="square" rtlCol="0" anchor="t"/>
          <a:lstStyle/>
          <a:p>
            <a:pPr marL="0" indent="0">
              <a:buNone/>
            </a:pPr>
            <a:r>
              <a:rPr lang="en-US" sz="1000" dirty="0">
                <a:solidFill>
                  <a:srgbClr val="D6E4F0"/>
                </a:solidFill>
                <a:latin typeface="Calibri" pitchFamily="34" charset="0"/>
                <a:ea typeface="Calibri" pitchFamily="34" charset="-122"/>
                <a:cs typeface="Calibri" pitchFamily="34" charset="-120"/>
              </a:rPr>
              <a:t>Leiden is a community detection algorithm that finds groups of products that are more tightly connected to each other than to the rest of the network.</a:t>
            </a:r>
            <a:endParaRPr lang="en-US" sz="1000" dirty="0"/>
          </a:p>
          <a:p>
            <a:pPr marL="0" indent="0">
              <a:buNone/>
            </a:pPr>
            <a:endParaRPr lang="en-US" sz="1000" dirty="0"/>
          </a:p>
          <a:p>
            <a:pPr marL="0" indent="0">
              <a:buNone/>
            </a:pPr>
            <a:r>
              <a:rPr lang="en-US" sz="1000" dirty="0">
                <a:solidFill>
                  <a:srgbClr val="D6E4F0"/>
                </a:solidFill>
                <a:latin typeface="Calibri" pitchFamily="34" charset="0"/>
                <a:ea typeface="Calibri" pitchFamily="34" charset="-122"/>
                <a:cs typeface="Calibri" pitchFamily="34" charset="-120"/>
              </a:rPr>
              <a:t>In automotive terms: it finds natural product families that share the same components and sub-assemblies — the groups that would be affected together if a supplier fails.</a:t>
            </a:r>
            <a:endParaRPr lang="en-US" sz="1000" dirty="0"/>
          </a:p>
          <a:p>
            <a:pPr marL="0" indent="0">
              <a:buNone/>
            </a:pPr>
            <a:endParaRPr lang="en-US" sz="1000" dirty="0"/>
          </a:p>
          <a:p>
            <a:pPr marL="0" indent="0">
              <a:buNone/>
            </a:pPr>
            <a:r>
              <a:rPr lang="en-US" sz="1000" dirty="0">
                <a:solidFill>
                  <a:srgbClr val="D6E4F0"/>
                </a:solidFill>
                <a:latin typeface="Calibri" pitchFamily="34" charset="0"/>
                <a:ea typeface="Calibri" pitchFamily="34" charset="-122"/>
                <a:cs typeface="Calibri" pitchFamily="34" charset="-120"/>
              </a:rPr>
              <a:t>We run it on a product-only BOM graph — 28,049 vehicle and component SKUs connected by 174,118 bill-of-materials edges — so the clusters reflect pure assembly dependency, not logistics noise.</a:t>
            </a:r>
            <a:endParaRPr lang="en-US" sz="1000" dirty="0"/>
          </a:p>
          <a:p>
            <a:pPr marL="0" indent="0">
              <a:buNone/>
            </a:pPr>
            <a:endParaRPr lang="en-US" sz="1000" dirty="0"/>
          </a:p>
          <a:p>
            <a:pPr marL="0" indent="0">
              <a:buNone/>
            </a:pPr>
            <a:r>
              <a:rPr lang="en-US" sz="1000" dirty="0">
                <a:solidFill>
                  <a:srgbClr val="D6E4F0"/>
                </a:solidFill>
                <a:latin typeface="Calibri" pitchFamily="34" charset="0"/>
                <a:ea typeface="Calibri" pitchFamily="34" charset="-122"/>
                <a:cs typeface="Calibri" pitchFamily="34" charset="-120"/>
              </a:rPr>
              <a:t>Key advantage over older algorithms: Leiden guarantees every cluster is internally connected — no isolated products are misassigned to a group.</a:t>
            </a:r>
            <a:endParaRPr lang="en-US" sz="1000" dirty="0"/>
          </a:p>
        </p:txBody>
      </p:sp>
      <p:sp>
        <p:nvSpPr>
          <p:cNvPr id="7" name="Shape 5"/>
          <p:cNvSpPr/>
          <p:nvPr/>
        </p:nvSpPr>
        <p:spPr>
          <a:xfrm>
            <a:off x="3913632" y="932688"/>
            <a:ext cx="4937760" cy="3547872"/>
          </a:xfrm>
          <a:prstGeom prst="rect">
            <a:avLst/>
          </a:prstGeom>
          <a:solidFill>
            <a:srgbClr val="0A1628"/>
          </a:solidFill>
          <a:ln w="8890">
            <a:solidFill>
              <a:srgbClr val="7B5EA7"/>
            </a:solidFill>
            <a:prstDash val="solid"/>
          </a:ln>
        </p:spPr>
        <p:txBody>
          <a:bodyPr/>
          <a:lstStyle/>
          <a:p>
            <a:endParaRPr lang="en-US"/>
          </a:p>
        </p:txBody>
      </p:sp>
      <p:sp>
        <p:nvSpPr>
          <p:cNvPr id="8" name="Text 6"/>
          <p:cNvSpPr/>
          <p:nvPr/>
        </p:nvSpPr>
        <p:spPr>
          <a:xfrm>
            <a:off x="4005072" y="987552"/>
            <a:ext cx="4754880" cy="237744"/>
          </a:xfrm>
          <a:prstGeom prst="rect">
            <a:avLst/>
          </a:prstGeom>
          <a:noFill/>
          <a:ln/>
        </p:spPr>
        <p:txBody>
          <a:bodyPr wrap="square" rtlCol="0" anchor="ctr"/>
          <a:lstStyle/>
          <a:p>
            <a:pPr marL="0" indent="0">
              <a:buNone/>
            </a:pPr>
            <a:r>
              <a:rPr lang="en-US" sz="900" i="1" dirty="0">
                <a:solidFill>
                  <a:srgbClr val="7B96B2"/>
                </a:solidFill>
                <a:latin typeface="Calibri" pitchFamily="34" charset="0"/>
                <a:ea typeface="Calibri" pitchFamily="34" charset="-122"/>
                <a:cs typeface="Calibri" pitchFamily="34" charset="-120"/>
              </a:rPr>
              <a:t>Product-group composition of each Leiden community — 7 natural planning zones identified</a:t>
            </a:r>
            <a:endParaRPr lang="en-US" sz="900" dirty="0"/>
          </a:p>
        </p:txBody>
      </p:sp>
      <p:pic>
        <p:nvPicPr>
          <p:cNvPr id="9" name="Image 0" descr="/home/claude/leiden_table.png"/>
          <p:cNvPicPr>
            <a:picLocks noChangeAspect="1"/>
          </p:cNvPicPr>
          <p:nvPr/>
        </p:nvPicPr>
        <p:blipFill>
          <a:blip r:embed="rId3"/>
          <a:stretch>
            <a:fillRect/>
          </a:stretch>
        </p:blipFill>
        <p:spPr>
          <a:xfrm>
            <a:off x="3968496" y="1243584"/>
            <a:ext cx="4828032" cy="3145536"/>
          </a:xfrm>
          <a:prstGeom prst="rect">
            <a:avLst/>
          </a:prstGeom>
        </p:spPr>
      </p:pic>
      <p:sp>
        <p:nvSpPr>
          <p:cNvPr id="10" name="Text 7"/>
          <p:cNvSpPr/>
          <p:nvPr/>
        </p:nvSpPr>
        <p:spPr>
          <a:xfrm>
            <a:off x="0" y="4992624"/>
            <a:ext cx="9144000" cy="155448"/>
          </a:xfrm>
          <a:prstGeom prst="rect">
            <a:avLst/>
          </a:prstGeom>
          <a:noFill/>
          <a:ln/>
        </p:spPr>
        <p:txBody>
          <a:bodyPr wrap="square" rtlCol="0" anchor="ctr"/>
          <a:lstStyle/>
          <a:p>
            <a:pPr marL="0" indent="0" algn="ctr">
              <a:buNone/>
            </a:pPr>
            <a:r>
              <a:rPr lang="en-US" sz="700" dirty="0">
                <a:solidFill>
                  <a:srgbClr val="7B96B2"/>
                </a:solidFill>
              </a:rPr>
              <a:t>Moetz et al. (2020)  ·  Neo4j Graph Data Science  ·  Spring 2026 Capstone</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47548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Leiden Results — 7 Natural Vehicle Production Clusters</a:t>
            </a:r>
            <a:endParaRPr lang="en-US" sz="2200" dirty="0"/>
          </a:p>
        </p:txBody>
      </p:sp>
      <p:sp>
        <p:nvSpPr>
          <p:cNvPr id="3" name="Text 1"/>
          <p:cNvSpPr/>
          <p:nvPr/>
        </p:nvSpPr>
        <p:spPr>
          <a:xfrm>
            <a:off x="365760" y="621792"/>
            <a:ext cx="8412480" cy="237744"/>
          </a:xfrm>
          <a:prstGeom prst="rect">
            <a:avLst/>
          </a:prstGeom>
          <a:noFill/>
          <a:ln/>
        </p:spPr>
        <p:txBody>
          <a:bodyPr wrap="square" rtlCol="0" anchor="ctr"/>
          <a:lstStyle/>
          <a:p>
            <a:pPr marL="0" indent="0">
              <a:buNone/>
            </a:pPr>
            <a:r>
              <a:rPr lang="en-US" sz="950" dirty="0">
                <a:solidFill>
                  <a:srgbClr val="7B96B2"/>
                </a:solidFill>
                <a:latin typeface="Calibri" pitchFamily="34" charset="0"/>
                <a:ea typeface="Calibri" pitchFamily="34" charset="-122"/>
                <a:cs typeface="Calibri" pitchFamily="34" charset="-120"/>
              </a:rPr>
              <a:t>GDS 2  ·  Each bar = one planning zone. Size = number of products sharing the same BOM dependency cluster</a:t>
            </a:r>
            <a:endParaRPr lang="en-US" sz="950" dirty="0"/>
          </a:p>
        </p:txBody>
      </p:sp>
      <p:sp>
        <p:nvSpPr>
          <p:cNvPr id="4" name="Shape 2"/>
          <p:cNvSpPr/>
          <p:nvPr/>
        </p:nvSpPr>
        <p:spPr>
          <a:xfrm>
            <a:off x="274320" y="932688"/>
            <a:ext cx="5577840" cy="2999232"/>
          </a:xfrm>
          <a:prstGeom prst="rect">
            <a:avLst/>
          </a:prstGeom>
          <a:solidFill>
            <a:srgbClr val="0A1628"/>
          </a:solidFill>
          <a:ln w="8890">
            <a:solidFill>
              <a:srgbClr val="7B5EA7"/>
            </a:solidFill>
            <a:prstDash val="solid"/>
          </a:ln>
        </p:spPr>
        <p:txBody>
          <a:bodyPr/>
          <a:lstStyle/>
          <a:p>
            <a:endParaRPr lang="en-US"/>
          </a:p>
        </p:txBody>
      </p:sp>
      <p:sp>
        <p:nvSpPr>
          <p:cNvPr id="5" name="Text 3"/>
          <p:cNvSpPr/>
          <p:nvPr/>
        </p:nvSpPr>
        <p:spPr>
          <a:xfrm>
            <a:off x="365760" y="987552"/>
            <a:ext cx="5394960" cy="219456"/>
          </a:xfrm>
          <a:prstGeom prst="rect">
            <a:avLst/>
          </a:prstGeom>
          <a:noFill/>
          <a:ln/>
        </p:spPr>
        <p:txBody>
          <a:bodyPr wrap="square" rtlCol="0" anchor="ctr"/>
          <a:lstStyle/>
          <a:p>
            <a:pPr marL="0" indent="0">
              <a:buNone/>
            </a:pPr>
            <a:r>
              <a:rPr lang="en-US" sz="900" i="1" dirty="0">
                <a:solidFill>
                  <a:srgbClr val="7B96B2"/>
                </a:solidFill>
                <a:latin typeface="Calibri" pitchFamily="34" charset="0"/>
                <a:ea typeface="Calibri" pitchFamily="34" charset="-122"/>
                <a:cs typeface="Calibri" pitchFamily="34" charset="-120"/>
              </a:rPr>
              <a:t>Supply chain community sizes detected via Leiden clustering</a:t>
            </a:r>
            <a:endParaRPr lang="en-US" sz="900" dirty="0"/>
          </a:p>
        </p:txBody>
      </p:sp>
      <p:pic>
        <p:nvPicPr>
          <p:cNvPr id="6" name="Image 0" descr="/home/claude/leiden_chart.png"/>
          <p:cNvPicPr>
            <a:picLocks noChangeAspect="1"/>
          </p:cNvPicPr>
          <p:nvPr/>
        </p:nvPicPr>
        <p:blipFill>
          <a:blip r:embed="rId3"/>
          <a:stretch>
            <a:fillRect/>
          </a:stretch>
        </p:blipFill>
        <p:spPr>
          <a:xfrm>
            <a:off x="329184" y="1225296"/>
            <a:ext cx="5468112" cy="2651760"/>
          </a:xfrm>
          <a:prstGeom prst="rect">
            <a:avLst/>
          </a:prstGeom>
        </p:spPr>
      </p:pic>
      <p:sp>
        <p:nvSpPr>
          <p:cNvPr id="7" name="Shape 4"/>
          <p:cNvSpPr/>
          <p:nvPr/>
        </p:nvSpPr>
        <p:spPr>
          <a:xfrm>
            <a:off x="274320" y="3986784"/>
            <a:ext cx="1719072" cy="493776"/>
          </a:xfrm>
          <a:prstGeom prst="rect">
            <a:avLst/>
          </a:prstGeom>
          <a:solidFill>
            <a:srgbClr val="112233"/>
          </a:solidFill>
          <a:ln w="7620">
            <a:solidFill>
              <a:srgbClr val="7B5EA7"/>
            </a:solidFill>
            <a:prstDash val="solid"/>
          </a:ln>
        </p:spPr>
        <p:txBody>
          <a:bodyPr/>
          <a:lstStyle/>
          <a:p>
            <a:endParaRPr lang="en-US"/>
          </a:p>
        </p:txBody>
      </p:sp>
      <p:sp>
        <p:nvSpPr>
          <p:cNvPr id="8" name="Text 5"/>
          <p:cNvSpPr/>
          <p:nvPr/>
        </p:nvSpPr>
        <p:spPr>
          <a:xfrm>
            <a:off x="365760" y="4005072"/>
            <a:ext cx="1536192" cy="438912"/>
          </a:xfrm>
          <a:prstGeom prst="rect">
            <a:avLst/>
          </a:prstGeom>
          <a:noFill/>
          <a:ln/>
        </p:spPr>
        <p:txBody>
          <a:bodyPr wrap="square" rtlCol="0" anchor="ctr"/>
          <a:lstStyle/>
          <a:p>
            <a:pPr marL="0" indent="0">
              <a:buNone/>
            </a:pPr>
            <a:r>
              <a:rPr lang="en-US" sz="750" dirty="0">
                <a:solidFill>
                  <a:srgbClr val="D6E4F0"/>
                </a:solidFill>
                <a:latin typeface="Calibri" pitchFamily="34" charset="0"/>
                <a:ea typeface="Calibri" pitchFamily="34" charset="-122"/>
                <a:cs typeface="Calibri" pitchFamily="34" charset="-120"/>
              </a:rPr>
              <a:t>Zone 7 (largest): 5,269 products</a:t>
            </a:r>
            <a:endParaRPr lang="en-US" sz="750" dirty="0"/>
          </a:p>
          <a:p>
            <a:pPr marL="0" indent="0">
              <a:buNone/>
            </a:pPr>
            <a:r>
              <a:rPr lang="en-US" sz="750" dirty="0">
                <a:solidFill>
                  <a:srgbClr val="D6E4F0"/>
                </a:solidFill>
                <a:latin typeface="Calibri" pitchFamily="34" charset="0"/>
                <a:ea typeface="Calibri" pitchFamily="34" charset="-122"/>
                <a:cs typeface="Calibri" pitchFamily="34" charset="-120"/>
              </a:rPr>
              <a:t>car + engine + gear + seat families</a:t>
            </a:r>
            <a:endParaRPr lang="en-US" sz="750" dirty="0"/>
          </a:p>
        </p:txBody>
      </p:sp>
      <p:sp>
        <p:nvSpPr>
          <p:cNvPr id="9" name="Shape 6"/>
          <p:cNvSpPr/>
          <p:nvPr/>
        </p:nvSpPr>
        <p:spPr>
          <a:xfrm>
            <a:off x="2103120" y="3986784"/>
            <a:ext cx="1719072" cy="493776"/>
          </a:xfrm>
          <a:prstGeom prst="rect">
            <a:avLst/>
          </a:prstGeom>
          <a:solidFill>
            <a:srgbClr val="112233"/>
          </a:solidFill>
          <a:ln w="7620">
            <a:solidFill>
              <a:srgbClr val="7B5EA7"/>
            </a:solidFill>
            <a:prstDash val="solid"/>
          </a:ln>
        </p:spPr>
        <p:txBody>
          <a:bodyPr/>
          <a:lstStyle/>
          <a:p>
            <a:endParaRPr lang="en-US"/>
          </a:p>
        </p:txBody>
      </p:sp>
      <p:sp>
        <p:nvSpPr>
          <p:cNvPr id="10" name="Text 7"/>
          <p:cNvSpPr/>
          <p:nvPr/>
        </p:nvSpPr>
        <p:spPr>
          <a:xfrm>
            <a:off x="2194560" y="4005072"/>
            <a:ext cx="1536192" cy="438912"/>
          </a:xfrm>
          <a:prstGeom prst="rect">
            <a:avLst/>
          </a:prstGeom>
          <a:noFill/>
          <a:ln/>
        </p:spPr>
        <p:txBody>
          <a:bodyPr wrap="square" rtlCol="0" anchor="ctr"/>
          <a:lstStyle/>
          <a:p>
            <a:pPr marL="0" indent="0">
              <a:buNone/>
            </a:pPr>
            <a:r>
              <a:rPr lang="en-US" sz="750" dirty="0">
                <a:solidFill>
                  <a:srgbClr val="D6E4F0"/>
                </a:solidFill>
                <a:latin typeface="Calibri" pitchFamily="34" charset="0"/>
                <a:ea typeface="Calibri" pitchFamily="34" charset="-122"/>
                <a:cs typeface="Calibri" pitchFamily="34" charset="-120"/>
              </a:rPr>
              <a:t>Zone 4: 4,929 products</a:t>
            </a:r>
            <a:endParaRPr lang="en-US" sz="750" dirty="0"/>
          </a:p>
          <a:p>
            <a:pPr marL="0" indent="0">
              <a:buNone/>
            </a:pPr>
            <a:r>
              <a:rPr lang="en-US" sz="750" dirty="0">
                <a:solidFill>
                  <a:srgbClr val="D6E4F0"/>
                </a:solidFill>
                <a:latin typeface="Calibri" pitchFamily="34" charset="0"/>
                <a:ea typeface="Calibri" pitchFamily="34" charset="-122"/>
                <a:cs typeface="Calibri" pitchFamily="34" charset="-120"/>
              </a:rPr>
              <a:t>car + engine + gear + seat families</a:t>
            </a:r>
            <a:endParaRPr lang="en-US" sz="750" dirty="0"/>
          </a:p>
        </p:txBody>
      </p:sp>
      <p:sp>
        <p:nvSpPr>
          <p:cNvPr id="11" name="Shape 8"/>
          <p:cNvSpPr/>
          <p:nvPr/>
        </p:nvSpPr>
        <p:spPr>
          <a:xfrm>
            <a:off x="3931920" y="3986784"/>
            <a:ext cx="1719072" cy="493776"/>
          </a:xfrm>
          <a:prstGeom prst="rect">
            <a:avLst/>
          </a:prstGeom>
          <a:solidFill>
            <a:srgbClr val="112233"/>
          </a:solidFill>
          <a:ln w="7620">
            <a:solidFill>
              <a:srgbClr val="7B5EA7"/>
            </a:solidFill>
            <a:prstDash val="solid"/>
          </a:ln>
        </p:spPr>
        <p:txBody>
          <a:bodyPr/>
          <a:lstStyle/>
          <a:p>
            <a:endParaRPr lang="en-US"/>
          </a:p>
        </p:txBody>
      </p:sp>
      <p:sp>
        <p:nvSpPr>
          <p:cNvPr id="12" name="Text 9"/>
          <p:cNvSpPr/>
          <p:nvPr/>
        </p:nvSpPr>
        <p:spPr>
          <a:xfrm>
            <a:off x="4023360" y="4005072"/>
            <a:ext cx="1536192" cy="438912"/>
          </a:xfrm>
          <a:prstGeom prst="rect">
            <a:avLst/>
          </a:prstGeom>
          <a:noFill/>
          <a:ln/>
        </p:spPr>
        <p:txBody>
          <a:bodyPr wrap="square" rtlCol="0" anchor="ctr"/>
          <a:lstStyle/>
          <a:p>
            <a:pPr marL="0" indent="0">
              <a:buNone/>
            </a:pPr>
            <a:r>
              <a:rPr lang="en-US" sz="750" dirty="0">
                <a:solidFill>
                  <a:srgbClr val="D6E4F0"/>
                </a:solidFill>
                <a:latin typeface="Calibri" pitchFamily="34" charset="0"/>
                <a:ea typeface="Calibri" pitchFamily="34" charset="-122"/>
                <a:cs typeface="Calibri" pitchFamily="34" charset="-120"/>
              </a:rPr>
              <a:t>Zone 5 (battery): 3,009 products</a:t>
            </a:r>
            <a:endParaRPr lang="en-US" sz="750" dirty="0"/>
          </a:p>
          <a:p>
            <a:pPr marL="0" indent="0">
              <a:buNone/>
            </a:pPr>
            <a:r>
              <a:rPr lang="en-US" sz="750" dirty="0">
                <a:solidFill>
                  <a:srgbClr val="D6E4F0"/>
                </a:solidFill>
                <a:latin typeface="Calibri" pitchFamily="34" charset="0"/>
                <a:ea typeface="Calibri" pitchFamily="34" charset="-122"/>
                <a:cs typeface="Calibri" pitchFamily="34" charset="-120"/>
              </a:rPr>
              <a:t>car + battery + battery_component</a:t>
            </a:r>
            <a:endParaRPr lang="en-US" sz="750" dirty="0"/>
          </a:p>
        </p:txBody>
      </p:sp>
      <p:sp>
        <p:nvSpPr>
          <p:cNvPr id="13" name="Shape 10"/>
          <p:cNvSpPr/>
          <p:nvPr/>
        </p:nvSpPr>
        <p:spPr>
          <a:xfrm>
            <a:off x="6016752" y="932688"/>
            <a:ext cx="2852928" cy="3547872"/>
          </a:xfrm>
          <a:prstGeom prst="rect">
            <a:avLst/>
          </a:prstGeom>
          <a:solidFill>
            <a:srgbClr val="112233"/>
          </a:solidFill>
          <a:ln w="8890">
            <a:solidFill>
              <a:srgbClr val="7B5EA7"/>
            </a:solidFill>
            <a:prstDash val="solid"/>
          </a:ln>
        </p:spPr>
        <p:txBody>
          <a:bodyPr/>
          <a:lstStyle/>
          <a:p>
            <a:endParaRPr lang="en-US"/>
          </a:p>
        </p:txBody>
      </p:sp>
      <p:sp>
        <p:nvSpPr>
          <p:cNvPr id="14" name="Text 11"/>
          <p:cNvSpPr/>
          <p:nvPr/>
        </p:nvSpPr>
        <p:spPr>
          <a:xfrm>
            <a:off x="6126480" y="1005840"/>
            <a:ext cx="2651760" cy="256032"/>
          </a:xfrm>
          <a:prstGeom prst="rect">
            <a:avLst/>
          </a:prstGeom>
          <a:noFill/>
          <a:ln/>
        </p:spPr>
        <p:txBody>
          <a:bodyPr wrap="square" rtlCol="0" anchor="ctr"/>
          <a:lstStyle/>
          <a:p>
            <a:pPr marL="0" indent="0">
              <a:buNone/>
            </a:pPr>
            <a:r>
              <a:rPr lang="en-US" sz="1100" b="1" dirty="0">
                <a:solidFill>
                  <a:srgbClr val="7B5EA7"/>
                </a:solidFill>
                <a:latin typeface="Calibri" pitchFamily="34" charset="0"/>
                <a:ea typeface="Calibri" pitchFamily="34" charset="-122"/>
                <a:cs typeface="Calibri" pitchFamily="34" charset="-120"/>
              </a:rPr>
              <a:t>Business Meaning</a:t>
            </a:r>
            <a:endParaRPr lang="en-US" sz="1100" dirty="0"/>
          </a:p>
        </p:txBody>
      </p:sp>
      <p:sp>
        <p:nvSpPr>
          <p:cNvPr id="15" name="Text 12"/>
          <p:cNvSpPr/>
          <p:nvPr/>
        </p:nvSpPr>
        <p:spPr>
          <a:xfrm>
            <a:off x="6126480" y="1335024"/>
            <a:ext cx="292608" cy="694944"/>
          </a:xfrm>
          <a:prstGeom prst="rect">
            <a:avLst/>
          </a:prstGeom>
          <a:noFill/>
          <a:ln/>
        </p:spPr>
        <p:txBody>
          <a:bodyPr wrap="square" rtlCol="0" anchor="ctr"/>
          <a:lstStyle/>
          <a:p>
            <a:pPr marL="0" indent="0">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16" name="Text 13"/>
          <p:cNvSpPr/>
          <p:nvPr/>
        </p:nvSpPr>
        <p:spPr>
          <a:xfrm>
            <a:off x="6473952" y="1335024"/>
            <a:ext cx="2322576" cy="731520"/>
          </a:xfrm>
          <a:prstGeom prst="rect">
            <a:avLst/>
          </a:prstGeom>
          <a:noFill/>
          <a:ln/>
        </p:spPr>
        <p:txBody>
          <a:bodyPr wrap="square" rtlCol="0" anchor="t"/>
          <a:lstStyle/>
          <a:p>
            <a:pPr marL="0" indent="0">
              <a:buNone/>
            </a:pPr>
            <a:r>
              <a:rPr lang="en-US" sz="950" dirty="0">
                <a:solidFill>
                  <a:srgbClr val="D6E4F0"/>
                </a:solidFill>
                <a:latin typeface="Calibri" pitchFamily="34" charset="0"/>
                <a:ea typeface="Calibri" pitchFamily="34" charset="-122"/>
                <a:cs typeface="Calibri" pitchFamily="34" charset="-120"/>
              </a:rPr>
              <a:t>7 planning zones instead of 28,049 individual products — procurement and operations teams can now work at zone level</a:t>
            </a:r>
            <a:endParaRPr lang="en-US" sz="950" dirty="0"/>
          </a:p>
        </p:txBody>
      </p:sp>
      <p:sp>
        <p:nvSpPr>
          <p:cNvPr id="17" name="Text 14"/>
          <p:cNvSpPr/>
          <p:nvPr/>
        </p:nvSpPr>
        <p:spPr>
          <a:xfrm>
            <a:off x="6126480" y="2139696"/>
            <a:ext cx="292608" cy="694944"/>
          </a:xfrm>
          <a:prstGeom prst="rect">
            <a:avLst/>
          </a:prstGeom>
          <a:noFill/>
          <a:ln/>
        </p:spPr>
        <p:txBody>
          <a:bodyPr wrap="square" rtlCol="0" anchor="ctr"/>
          <a:lstStyle/>
          <a:p>
            <a:pPr marL="0" indent="0">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18" name="Text 15"/>
          <p:cNvSpPr/>
          <p:nvPr/>
        </p:nvSpPr>
        <p:spPr>
          <a:xfrm>
            <a:off x="6473952" y="2139696"/>
            <a:ext cx="2322576" cy="731520"/>
          </a:xfrm>
          <a:prstGeom prst="rect">
            <a:avLst/>
          </a:prstGeom>
          <a:noFill/>
          <a:ln/>
        </p:spPr>
        <p:txBody>
          <a:bodyPr wrap="square" rtlCol="0" anchor="t"/>
          <a:lstStyle/>
          <a:p>
            <a:pPr marL="0" indent="0">
              <a:buNone/>
            </a:pPr>
            <a:r>
              <a:rPr lang="en-US" sz="950" dirty="0">
                <a:solidFill>
                  <a:srgbClr val="D6E4F0"/>
                </a:solidFill>
                <a:latin typeface="Calibri" pitchFamily="34" charset="0"/>
                <a:ea typeface="Calibri" pitchFamily="34" charset="-122"/>
                <a:cs typeface="Calibri" pitchFamily="34" charset="-120"/>
              </a:rPr>
              <a:t>Community 5 is the battery cluster — 3,009 products that share battery and battery_component dependencies. A battery disruption stays contained here</a:t>
            </a:r>
            <a:endParaRPr lang="en-US" sz="950" dirty="0"/>
          </a:p>
        </p:txBody>
      </p:sp>
      <p:sp>
        <p:nvSpPr>
          <p:cNvPr id="19" name="Text 16"/>
          <p:cNvSpPr/>
          <p:nvPr/>
        </p:nvSpPr>
        <p:spPr>
          <a:xfrm>
            <a:off x="6126480" y="2944368"/>
            <a:ext cx="292608" cy="694944"/>
          </a:xfrm>
          <a:prstGeom prst="rect">
            <a:avLst/>
          </a:prstGeom>
          <a:noFill/>
          <a:ln/>
        </p:spPr>
        <p:txBody>
          <a:bodyPr wrap="square" rtlCol="0" anchor="ctr"/>
          <a:lstStyle/>
          <a:p>
            <a:pPr marL="0" indent="0">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20" name="Text 17"/>
          <p:cNvSpPr/>
          <p:nvPr/>
        </p:nvSpPr>
        <p:spPr>
          <a:xfrm>
            <a:off x="6473952" y="2944368"/>
            <a:ext cx="2322576" cy="731520"/>
          </a:xfrm>
          <a:prstGeom prst="rect">
            <a:avLst/>
          </a:prstGeom>
          <a:noFill/>
          <a:ln/>
        </p:spPr>
        <p:txBody>
          <a:bodyPr wrap="square" rtlCol="0" anchor="t"/>
          <a:lstStyle/>
          <a:p>
            <a:pPr marL="0" indent="0">
              <a:buNone/>
            </a:pPr>
            <a:r>
              <a:rPr lang="en-US" sz="950" dirty="0">
                <a:solidFill>
                  <a:srgbClr val="D6E4F0"/>
                </a:solidFill>
                <a:latin typeface="Calibri" pitchFamily="34" charset="0"/>
                <a:ea typeface="Calibri" pitchFamily="34" charset="-122"/>
                <a:cs typeface="Calibri" pitchFamily="34" charset="-120"/>
              </a:rPr>
              <a:t>The four largest communities are all car-heavy — seat, gear, engine dependencies dominate the biggest clusters</a:t>
            </a:r>
            <a:endParaRPr lang="en-US" sz="950" dirty="0"/>
          </a:p>
        </p:txBody>
      </p:sp>
      <p:sp>
        <p:nvSpPr>
          <p:cNvPr id="21" name="Text 18"/>
          <p:cNvSpPr/>
          <p:nvPr/>
        </p:nvSpPr>
        <p:spPr>
          <a:xfrm>
            <a:off x="6126480" y="3749040"/>
            <a:ext cx="292608" cy="694944"/>
          </a:xfrm>
          <a:prstGeom prst="rect">
            <a:avLst/>
          </a:prstGeom>
          <a:noFill/>
          <a:ln/>
        </p:spPr>
        <p:txBody>
          <a:bodyPr wrap="square" rtlCol="0" anchor="ctr"/>
          <a:lstStyle/>
          <a:p>
            <a:pPr marL="0" indent="0">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22" name="Text 19"/>
          <p:cNvSpPr/>
          <p:nvPr/>
        </p:nvSpPr>
        <p:spPr>
          <a:xfrm>
            <a:off x="6473952" y="3749040"/>
            <a:ext cx="2322576" cy="731520"/>
          </a:xfrm>
          <a:prstGeom prst="rect">
            <a:avLst/>
          </a:prstGeom>
          <a:noFill/>
          <a:ln/>
        </p:spPr>
        <p:txBody>
          <a:bodyPr wrap="square" rtlCol="0" anchor="t"/>
          <a:lstStyle/>
          <a:p>
            <a:pPr marL="0" indent="0">
              <a:buNone/>
            </a:pPr>
            <a:r>
              <a:rPr lang="en-US" sz="950" dirty="0">
                <a:solidFill>
                  <a:srgbClr val="D6E4F0"/>
                </a:solidFill>
                <a:latin typeface="Calibri" pitchFamily="34" charset="0"/>
                <a:ea typeface="Calibri" pitchFamily="34" charset="-122"/>
                <a:cs typeface="Calibri" pitchFamily="34" charset="-120"/>
              </a:rPr>
              <a:t>No community has internal redundancy — disruption within a zone has no backup path. Each zone needs its own resilience plan</a:t>
            </a:r>
            <a:endParaRPr lang="en-US" sz="950" dirty="0"/>
          </a:p>
        </p:txBody>
      </p:sp>
      <p:sp>
        <p:nvSpPr>
          <p:cNvPr id="23" name="Text 20"/>
          <p:cNvSpPr/>
          <p:nvPr/>
        </p:nvSpPr>
        <p:spPr>
          <a:xfrm>
            <a:off x="0" y="4992624"/>
            <a:ext cx="9144000" cy="155448"/>
          </a:xfrm>
          <a:prstGeom prst="rect">
            <a:avLst/>
          </a:prstGeom>
          <a:noFill/>
          <a:ln/>
        </p:spPr>
        <p:txBody>
          <a:bodyPr wrap="square" rtlCol="0" anchor="ctr"/>
          <a:lstStyle/>
          <a:p>
            <a:pPr marL="0" indent="0" algn="ctr">
              <a:buNone/>
            </a:pPr>
            <a:r>
              <a:rPr lang="en-US" sz="700" dirty="0">
                <a:solidFill>
                  <a:srgbClr val="7B96B2"/>
                </a:solidFill>
              </a:rPr>
              <a:t>Moetz et al. (2020)  ·  Neo4j Graph Data Science  ·  Spring 2026 Capstone</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080F1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47548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What Graph Data Science Tells the Business</a:t>
            </a:r>
            <a:endParaRPr lang="en-US" sz="2400" dirty="0"/>
          </a:p>
        </p:txBody>
      </p:sp>
      <p:sp>
        <p:nvSpPr>
          <p:cNvPr id="3" name="Text 1"/>
          <p:cNvSpPr/>
          <p:nvPr/>
        </p:nvSpPr>
        <p:spPr>
          <a:xfrm>
            <a:off x="365760" y="621792"/>
            <a:ext cx="8412480" cy="256032"/>
          </a:xfrm>
          <a:prstGeom prst="rect">
            <a:avLst/>
          </a:prstGeom>
          <a:noFill/>
          <a:ln/>
        </p:spPr>
        <p:txBody>
          <a:bodyPr wrap="square" rtlCol="0" anchor="ctr"/>
          <a:lstStyle/>
          <a:p>
            <a:pPr marL="0" indent="0">
              <a:buNone/>
            </a:pPr>
            <a:r>
              <a:rPr lang="en-US" sz="1200" i="1" dirty="0">
                <a:solidFill>
                  <a:srgbClr val="7B96B2"/>
                </a:solidFill>
                <a:latin typeface="Calibri" pitchFamily="34" charset="0"/>
                <a:ea typeface="Calibri" pitchFamily="34" charset="-122"/>
                <a:cs typeface="Calibri" pitchFamily="34" charset="-120"/>
              </a:rPr>
              <a:t>Two algorithms. One clear operational picture.</a:t>
            </a:r>
            <a:endParaRPr lang="en-US" sz="1200" dirty="0"/>
          </a:p>
        </p:txBody>
      </p:sp>
      <p:sp>
        <p:nvSpPr>
          <p:cNvPr id="4" name="Shape 2"/>
          <p:cNvSpPr/>
          <p:nvPr/>
        </p:nvSpPr>
        <p:spPr>
          <a:xfrm>
            <a:off x="256032" y="969264"/>
            <a:ext cx="4261104" cy="1225296"/>
          </a:xfrm>
          <a:prstGeom prst="rect">
            <a:avLst/>
          </a:prstGeom>
          <a:solidFill>
            <a:srgbClr val="112233"/>
          </a:solidFill>
          <a:ln w="10160">
            <a:solidFill>
              <a:srgbClr val="00B4D8"/>
            </a:solidFill>
            <a:prstDash val="solid"/>
          </a:ln>
        </p:spPr>
        <p:txBody>
          <a:bodyPr/>
          <a:lstStyle/>
          <a:p>
            <a:endParaRPr lang="en-US"/>
          </a:p>
        </p:txBody>
      </p:sp>
      <p:sp>
        <p:nvSpPr>
          <p:cNvPr id="5" name="Shape 3"/>
          <p:cNvSpPr/>
          <p:nvPr/>
        </p:nvSpPr>
        <p:spPr>
          <a:xfrm>
            <a:off x="256032" y="969264"/>
            <a:ext cx="804672" cy="1225296"/>
          </a:xfrm>
          <a:prstGeom prst="rect">
            <a:avLst/>
          </a:prstGeom>
          <a:solidFill>
            <a:srgbClr val="00B4D8"/>
          </a:solidFill>
          <a:ln w="12700">
            <a:solidFill>
              <a:srgbClr val="00B4D8"/>
            </a:solidFill>
            <a:prstDash val="solid"/>
          </a:ln>
        </p:spPr>
        <p:txBody>
          <a:bodyPr/>
          <a:lstStyle/>
          <a:p>
            <a:endParaRPr lang="en-US"/>
          </a:p>
        </p:txBody>
      </p:sp>
      <p:sp>
        <p:nvSpPr>
          <p:cNvPr id="6" name="Text 4"/>
          <p:cNvSpPr/>
          <p:nvPr/>
        </p:nvSpPr>
        <p:spPr>
          <a:xfrm>
            <a:off x="256032" y="969264"/>
            <a:ext cx="804672" cy="1225296"/>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PageRank</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Finding</a:t>
            </a:r>
            <a:endParaRPr lang="en-US" sz="850" dirty="0"/>
          </a:p>
        </p:txBody>
      </p:sp>
      <p:sp>
        <p:nvSpPr>
          <p:cNvPr id="7" name="Text 5"/>
          <p:cNvSpPr/>
          <p:nvPr/>
        </p:nvSpPr>
        <p:spPr>
          <a:xfrm>
            <a:off x="1133856" y="1060704"/>
            <a:ext cx="3310128" cy="1060704"/>
          </a:xfrm>
          <a:prstGeom prst="rect">
            <a:avLst/>
          </a:prstGeom>
          <a:noFill/>
          <a:ln/>
        </p:spPr>
        <p:txBody>
          <a:bodyPr wrap="square" rtlCol="0" anchor="t"/>
          <a:lstStyle/>
          <a:p>
            <a:pPr marL="0" indent="0">
              <a:buNone/>
            </a:pPr>
            <a:r>
              <a:rPr lang="en-US" sz="880" dirty="0">
                <a:solidFill>
                  <a:srgbClr val="D6E4F0"/>
                </a:solidFill>
                <a:latin typeface="Calibri" pitchFamily="34" charset="0"/>
                <a:ea typeface="Calibri" pitchFamily="34" charset="-122"/>
                <a:cs typeface="Calibri" pitchFamily="34" charset="-120"/>
              </a:rPr>
              <a:t>zp7 and zp8 — the OEM final assembly plants — are the highest-risk nodes in the entire network. Every component from every supplier must pass through them. Protecting these two plants is the single highest-value resilience investment.</a:t>
            </a:r>
            <a:endParaRPr lang="en-US" sz="880" dirty="0"/>
          </a:p>
        </p:txBody>
      </p:sp>
      <p:sp>
        <p:nvSpPr>
          <p:cNvPr id="8" name="Shape 6"/>
          <p:cNvSpPr/>
          <p:nvPr/>
        </p:nvSpPr>
        <p:spPr>
          <a:xfrm>
            <a:off x="256032" y="2267712"/>
            <a:ext cx="4261104" cy="1225296"/>
          </a:xfrm>
          <a:prstGeom prst="rect">
            <a:avLst/>
          </a:prstGeom>
          <a:solidFill>
            <a:srgbClr val="112233"/>
          </a:solidFill>
          <a:ln w="10160">
            <a:solidFill>
              <a:srgbClr val="00B4D8"/>
            </a:solidFill>
            <a:prstDash val="solid"/>
          </a:ln>
        </p:spPr>
        <p:txBody>
          <a:bodyPr/>
          <a:lstStyle/>
          <a:p>
            <a:endParaRPr lang="en-US"/>
          </a:p>
        </p:txBody>
      </p:sp>
      <p:sp>
        <p:nvSpPr>
          <p:cNvPr id="9" name="Shape 7"/>
          <p:cNvSpPr/>
          <p:nvPr/>
        </p:nvSpPr>
        <p:spPr>
          <a:xfrm>
            <a:off x="256032" y="2267712"/>
            <a:ext cx="804672" cy="1225296"/>
          </a:xfrm>
          <a:prstGeom prst="rect">
            <a:avLst/>
          </a:prstGeom>
          <a:solidFill>
            <a:srgbClr val="00B4D8"/>
          </a:solidFill>
          <a:ln w="12700">
            <a:solidFill>
              <a:srgbClr val="00B4D8"/>
            </a:solidFill>
            <a:prstDash val="solid"/>
          </a:ln>
        </p:spPr>
        <p:txBody>
          <a:bodyPr/>
          <a:lstStyle/>
          <a:p>
            <a:endParaRPr lang="en-US"/>
          </a:p>
        </p:txBody>
      </p:sp>
      <p:sp>
        <p:nvSpPr>
          <p:cNvPr id="10" name="Text 8"/>
          <p:cNvSpPr/>
          <p:nvPr/>
        </p:nvSpPr>
        <p:spPr>
          <a:xfrm>
            <a:off x="256032" y="2267712"/>
            <a:ext cx="804672" cy="1225296"/>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Tier-1</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Exposure</a:t>
            </a:r>
            <a:endParaRPr lang="en-US" sz="850" dirty="0"/>
          </a:p>
        </p:txBody>
      </p:sp>
      <p:sp>
        <p:nvSpPr>
          <p:cNvPr id="11" name="Text 9"/>
          <p:cNvSpPr/>
          <p:nvPr/>
        </p:nvSpPr>
        <p:spPr>
          <a:xfrm>
            <a:off x="1133856" y="2359152"/>
            <a:ext cx="3310128" cy="1060704"/>
          </a:xfrm>
          <a:prstGeom prst="rect">
            <a:avLst/>
          </a:prstGeom>
          <a:noFill/>
          <a:ln/>
        </p:spPr>
        <p:txBody>
          <a:bodyPr wrap="square" rtlCol="0" anchor="t"/>
          <a:lstStyle/>
          <a:p>
            <a:pPr marL="0" indent="0">
              <a:buNone/>
            </a:pPr>
            <a:r>
              <a:rPr lang="en-US" sz="880" dirty="0">
                <a:solidFill>
                  <a:srgbClr val="D6E4F0"/>
                </a:solidFill>
                <a:latin typeface="Calibri" pitchFamily="34" charset="0"/>
                <a:ea typeface="Calibri" pitchFamily="34" charset="-122"/>
                <a:cs typeface="Calibri" pitchFamily="34" charset="-120"/>
              </a:rPr>
              <a:t>battery-supplier_inv and seat-supplier_inv are the next most critical. They are the last inventory buffer before the OEM convergence point — and both feed components with 20–23 week lead times and 294-unit capacity ceilings.</a:t>
            </a:r>
            <a:endParaRPr lang="en-US" sz="880" dirty="0"/>
          </a:p>
        </p:txBody>
      </p:sp>
      <p:sp>
        <p:nvSpPr>
          <p:cNvPr id="12" name="Shape 10"/>
          <p:cNvSpPr/>
          <p:nvPr/>
        </p:nvSpPr>
        <p:spPr>
          <a:xfrm>
            <a:off x="256032" y="3566160"/>
            <a:ext cx="4261104" cy="1225296"/>
          </a:xfrm>
          <a:prstGeom prst="rect">
            <a:avLst/>
          </a:prstGeom>
          <a:solidFill>
            <a:srgbClr val="112233"/>
          </a:solidFill>
          <a:ln w="10160">
            <a:solidFill>
              <a:srgbClr val="7B5EA7"/>
            </a:solidFill>
            <a:prstDash val="solid"/>
          </a:ln>
        </p:spPr>
        <p:txBody>
          <a:bodyPr/>
          <a:lstStyle/>
          <a:p>
            <a:endParaRPr lang="en-US"/>
          </a:p>
        </p:txBody>
      </p:sp>
      <p:sp>
        <p:nvSpPr>
          <p:cNvPr id="13" name="Shape 11"/>
          <p:cNvSpPr/>
          <p:nvPr/>
        </p:nvSpPr>
        <p:spPr>
          <a:xfrm>
            <a:off x="256032" y="3566160"/>
            <a:ext cx="804672" cy="1225296"/>
          </a:xfrm>
          <a:prstGeom prst="rect">
            <a:avLst/>
          </a:prstGeom>
          <a:solidFill>
            <a:srgbClr val="7B5EA7"/>
          </a:solidFill>
          <a:ln w="12700">
            <a:solidFill>
              <a:srgbClr val="7B5EA7"/>
            </a:solidFill>
            <a:prstDash val="solid"/>
          </a:ln>
        </p:spPr>
        <p:txBody>
          <a:bodyPr/>
          <a:lstStyle/>
          <a:p>
            <a:endParaRPr lang="en-US"/>
          </a:p>
        </p:txBody>
      </p:sp>
      <p:sp>
        <p:nvSpPr>
          <p:cNvPr id="14" name="Text 12"/>
          <p:cNvSpPr/>
          <p:nvPr/>
        </p:nvSpPr>
        <p:spPr>
          <a:xfrm>
            <a:off x="256032" y="3566160"/>
            <a:ext cx="804672" cy="1225296"/>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Leiden</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Finding</a:t>
            </a:r>
            <a:endParaRPr lang="en-US" sz="850" dirty="0"/>
          </a:p>
        </p:txBody>
      </p:sp>
      <p:sp>
        <p:nvSpPr>
          <p:cNvPr id="15" name="Text 13"/>
          <p:cNvSpPr/>
          <p:nvPr/>
        </p:nvSpPr>
        <p:spPr>
          <a:xfrm>
            <a:off x="1133856" y="3657600"/>
            <a:ext cx="3310128" cy="1060704"/>
          </a:xfrm>
          <a:prstGeom prst="rect">
            <a:avLst/>
          </a:prstGeom>
          <a:noFill/>
          <a:ln/>
        </p:spPr>
        <p:txBody>
          <a:bodyPr wrap="square" rtlCol="0" anchor="t"/>
          <a:lstStyle/>
          <a:p>
            <a:pPr marL="0" indent="0">
              <a:buNone/>
            </a:pPr>
            <a:r>
              <a:rPr lang="en-US" sz="880" dirty="0">
                <a:solidFill>
                  <a:srgbClr val="D6E4F0"/>
                </a:solidFill>
                <a:latin typeface="Calibri" pitchFamily="34" charset="0"/>
                <a:ea typeface="Calibri" pitchFamily="34" charset="-122"/>
                <a:cs typeface="Calibri" pitchFamily="34" charset="-120"/>
              </a:rPr>
              <a:t>The product BOM naturally segments into 7 planning zones ranging from 2,982 to 5,269 products. This is not an arbitrary grouping — it reflects genuine structural dependency in the bill of materials.</a:t>
            </a:r>
            <a:endParaRPr lang="en-US" sz="880" dirty="0"/>
          </a:p>
        </p:txBody>
      </p:sp>
      <p:sp>
        <p:nvSpPr>
          <p:cNvPr id="16" name="Shape 14"/>
          <p:cNvSpPr/>
          <p:nvPr/>
        </p:nvSpPr>
        <p:spPr>
          <a:xfrm>
            <a:off x="4681728" y="969264"/>
            <a:ext cx="4261104" cy="1225296"/>
          </a:xfrm>
          <a:prstGeom prst="rect">
            <a:avLst/>
          </a:prstGeom>
          <a:solidFill>
            <a:srgbClr val="112233"/>
          </a:solidFill>
          <a:ln w="10160">
            <a:solidFill>
              <a:srgbClr val="7B5EA7"/>
            </a:solidFill>
            <a:prstDash val="solid"/>
          </a:ln>
        </p:spPr>
        <p:txBody>
          <a:bodyPr/>
          <a:lstStyle/>
          <a:p>
            <a:endParaRPr lang="en-US"/>
          </a:p>
        </p:txBody>
      </p:sp>
      <p:sp>
        <p:nvSpPr>
          <p:cNvPr id="17" name="Shape 15"/>
          <p:cNvSpPr/>
          <p:nvPr/>
        </p:nvSpPr>
        <p:spPr>
          <a:xfrm>
            <a:off x="4681728" y="969264"/>
            <a:ext cx="804672" cy="1225296"/>
          </a:xfrm>
          <a:prstGeom prst="rect">
            <a:avLst/>
          </a:prstGeom>
          <a:solidFill>
            <a:srgbClr val="7B5EA7"/>
          </a:solidFill>
          <a:ln w="12700">
            <a:solidFill>
              <a:srgbClr val="7B5EA7"/>
            </a:solidFill>
            <a:prstDash val="solid"/>
          </a:ln>
        </p:spPr>
        <p:txBody>
          <a:bodyPr/>
          <a:lstStyle/>
          <a:p>
            <a:endParaRPr lang="en-US"/>
          </a:p>
        </p:txBody>
      </p:sp>
      <p:sp>
        <p:nvSpPr>
          <p:cNvPr id="18" name="Text 16"/>
          <p:cNvSpPr/>
          <p:nvPr/>
        </p:nvSpPr>
        <p:spPr>
          <a:xfrm>
            <a:off x="4681728" y="969264"/>
            <a:ext cx="804672" cy="1225296"/>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Battery</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Cluster</a:t>
            </a:r>
            <a:endParaRPr lang="en-US" sz="850" dirty="0"/>
          </a:p>
        </p:txBody>
      </p:sp>
      <p:sp>
        <p:nvSpPr>
          <p:cNvPr id="19" name="Text 17"/>
          <p:cNvSpPr/>
          <p:nvPr/>
        </p:nvSpPr>
        <p:spPr>
          <a:xfrm>
            <a:off x="5559552" y="1060704"/>
            <a:ext cx="3310128" cy="1060704"/>
          </a:xfrm>
          <a:prstGeom prst="rect">
            <a:avLst/>
          </a:prstGeom>
          <a:noFill/>
          <a:ln/>
        </p:spPr>
        <p:txBody>
          <a:bodyPr wrap="square" rtlCol="0" anchor="t"/>
          <a:lstStyle/>
          <a:p>
            <a:pPr marL="0" indent="0">
              <a:buNone/>
            </a:pPr>
            <a:r>
              <a:rPr lang="en-US" sz="880" dirty="0">
                <a:solidFill>
                  <a:srgbClr val="D6E4F0"/>
                </a:solidFill>
                <a:latin typeface="Calibri" pitchFamily="34" charset="0"/>
                <a:ea typeface="Calibri" pitchFamily="34" charset="-122"/>
                <a:cs typeface="Calibri" pitchFamily="34" charset="-120"/>
              </a:rPr>
              <a:t>Community 5 (3,009 products) is the dedicated battery cluster. Disruption here stays contained — but there is no internal redundancy. The entire zone depends on a single production route capped at 294 units per week.</a:t>
            </a:r>
            <a:endParaRPr lang="en-US" sz="880" dirty="0"/>
          </a:p>
        </p:txBody>
      </p:sp>
      <p:sp>
        <p:nvSpPr>
          <p:cNvPr id="20" name="Shape 18"/>
          <p:cNvSpPr/>
          <p:nvPr/>
        </p:nvSpPr>
        <p:spPr>
          <a:xfrm>
            <a:off x="4681728" y="2267712"/>
            <a:ext cx="4261104" cy="1225296"/>
          </a:xfrm>
          <a:prstGeom prst="rect">
            <a:avLst/>
          </a:prstGeom>
          <a:solidFill>
            <a:srgbClr val="112233"/>
          </a:solidFill>
          <a:ln w="10160">
            <a:solidFill>
              <a:srgbClr val="F4A261"/>
            </a:solidFill>
            <a:prstDash val="solid"/>
          </a:ln>
        </p:spPr>
        <p:txBody>
          <a:bodyPr/>
          <a:lstStyle/>
          <a:p>
            <a:endParaRPr lang="en-US"/>
          </a:p>
        </p:txBody>
      </p:sp>
      <p:sp>
        <p:nvSpPr>
          <p:cNvPr id="21" name="Shape 19"/>
          <p:cNvSpPr/>
          <p:nvPr/>
        </p:nvSpPr>
        <p:spPr>
          <a:xfrm>
            <a:off x="4681728" y="2267712"/>
            <a:ext cx="804672" cy="1225296"/>
          </a:xfrm>
          <a:prstGeom prst="rect">
            <a:avLst/>
          </a:prstGeom>
          <a:solidFill>
            <a:srgbClr val="F4A261"/>
          </a:solidFill>
          <a:ln w="12700">
            <a:solidFill>
              <a:srgbClr val="F4A261"/>
            </a:solidFill>
            <a:prstDash val="solid"/>
          </a:ln>
        </p:spPr>
        <p:txBody>
          <a:bodyPr/>
          <a:lstStyle/>
          <a:p>
            <a:endParaRPr lang="en-US"/>
          </a:p>
        </p:txBody>
      </p:sp>
      <p:sp>
        <p:nvSpPr>
          <p:cNvPr id="22" name="Text 20"/>
          <p:cNvSpPr/>
          <p:nvPr/>
        </p:nvSpPr>
        <p:spPr>
          <a:xfrm>
            <a:off x="4681728" y="2267712"/>
            <a:ext cx="804672" cy="1225296"/>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Operational</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Action</a:t>
            </a:r>
            <a:endParaRPr lang="en-US" sz="850" dirty="0"/>
          </a:p>
        </p:txBody>
      </p:sp>
      <p:sp>
        <p:nvSpPr>
          <p:cNvPr id="23" name="Text 21"/>
          <p:cNvSpPr/>
          <p:nvPr/>
        </p:nvSpPr>
        <p:spPr>
          <a:xfrm>
            <a:off x="5559552" y="2359152"/>
            <a:ext cx="3310128" cy="1060704"/>
          </a:xfrm>
          <a:prstGeom prst="rect">
            <a:avLst/>
          </a:prstGeom>
          <a:noFill/>
          <a:ln/>
        </p:spPr>
        <p:txBody>
          <a:bodyPr wrap="square" rtlCol="0" anchor="t"/>
          <a:lstStyle/>
          <a:p>
            <a:pPr marL="0" indent="0">
              <a:buNone/>
            </a:pPr>
            <a:r>
              <a:rPr lang="en-US" sz="880" dirty="0">
                <a:solidFill>
                  <a:srgbClr val="D6E4F0"/>
                </a:solidFill>
                <a:latin typeface="Calibri" pitchFamily="34" charset="0"/>
                <a:ea typeface="Calibri" pitchFamily="34" charset="-122"/>
                <a:cs typeface="Calibri" pitchFamily="34" charset="-120"/>
              </a:rPr>
              <a:t>Manage disruption response at zone level (7 zones) rather than SKU level (28,049 products). When battery-supplier_inv is disrupted, activate the Community 5 contingency plan — not a product-by-product assessment.</a:t>
            </a:r>
            <a:endParaRPr lang="en-US" sz="880" dirty="0"/>
          </a:p>
        </p:txBody>
      </p:sp>
      <p:sp>
        <p:nvSpPr>
          <p:cNvPr id="24" name="Shape 22"/>
          <p:cNvSpPr/>
          <p:nvPr/>
        </p:nvSpPr>
        <p:spPr>
          <a:xfrm>
            <a:off x="4681728" y="3566160"/>
            <a:ext cx="4261104" cy="1225296"/>
          </a:xfrm>
          <a:prstGeom prst="rect">
            <a:avLst/>
          </a:prstGeom>
          <a:solidFill>
            <a:srgbClr val="112233"/>
          </a:solidFill>
          <a:ln w="10160">
            <a:solidFill>
              <a:srgbClr val="2EC4B6"/>
            </a:solidFill>
            <a:prstDash val="solid"/>
          </a:ln>
        </p:spPr>
        <p:txBody>
          <a:bodyPr/>
          <a:lstStyle/>
          <a:p>
            <a:endParaRPr lang="en-US"/>
          </a:p>
        </p:txBody>
      </p:sp>
      <p:sp>
        <p:nvSpPr>
          <p:cNvPr id="25" name="Shape 23"/>
          <p:cNvSpPr/>
          <p:nvPr/>
        </p:nvSpPr>
        <p:spPr>
          <a:xfrm>
            <a:off x="4681728" y="3566160"/>
            <a:ext cx="804672" cy="1225296"/>
          </a:xfrm>
          <a:prstGeom prst="rect">
            <a:avLst/>
          </a:prstGeom>
          <a:solidFill>
            <a:srgbClr val="2EC4B6"/>
          </a:solidFill>
          <a:ln w="12700">
            <a:solidFill>
              <a:srgbClr val="2EC4B6"/>
            </a:solidFill>
            <a:prstDash val="solid"/>
          </a:ln>
        </p:spPr>
        <p:txBody>
          <a:bodyPr/>
          <a:lstStyle/>
          <a:p>
            <a:endParaRPr lang="en-US"/>
          </a:p>
        </p:txBody>
      </p:sp>
      <p:sp>
        <p:nvSpPr>
          <p:cNvPr id="26" name="Text 24"/>
          <p:cNvSpPr/>
          <p:nvPr/>
        </p:nvSpPr>
        <p:spPr>
          <a:xfrm>
            <a:off x="4681728" y="3566160"/>
            <a:ext cx="804672" cy="1225296"/>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Strategic</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Value</a:t>
            </a:r>
            <a:endParaRPr lang="en-US" sz="850" dirty="0"/>
          </a:p>
        </p:txBody>
      </p:sp>
      <p:sp>
        <p:nvSpPr>
          <p:cNvPr id="27" name="Text 25"/>
          <p:cNvSpPr/>
          <p:nvPr/>
        </p:nvSpPr>
        <p:spPr>
          <a:xfrm>
            <a:off x="5559552" y="3657600"/>
            <a:ext cx="3310128" cy="1060704"/>
          </a:xfrm>
          <a:prstGeom prst="rect">
            <a:avLst/>
          </a:prstGeom>
          <a:noFill/>
          <a:ln/>
        </p:spPr>
        <p:txBody>
          <a:bodyPr wrap="square" rtlCol="0" anchor="t"/>
          <a:lstStyle/>
          <a:p>
            <a:pPr marL="0" indent="0">
              <a:buNone/>
            </a:pPr>
            <a:r>
              <a:rPr lang="en-US" sz="880" dirty="0">
                <a:solidFill>
                  <a:srgbClr val="D6E4F0"/>
                </a:solidFill>
                <a:latin typeface="Calibri" pitchFamily="34" charset="0"/>
                <a:ea typeface="Calibri" pitchFamily="34" charset="-122"/>
                <a:cs typeface="Calibri" pitchFamily="34" charset="-120"/>
              </a:rPr>
              <a:t>Graph algorithms produce ranked, network-wide outputs that Cypher queries alone cannot. They turn 56,083 nodes and 171,163 relationships into two actionable outputs: a critical node ranking and a planning zone map.</a:t>
            </a:r>
            <a:endParaRPr lang="en-US" sz="880" dirty="0"/>
          </a:p>
        </p:txBody>
      </p:sp>
      <p:sp>
        <p:nvSpPr>
          <p:cNvPr id="28" name="Shape 26"/>
          <p:cNvSpPr/>
          <p:nvPr/>
        </p:nvSpPr>
        <p:spPr>
          <a:xfrm>
            <a:off x="256032" y="4791456"/>
            <a:ext cx="8631936" cy="164592"/>
          </a:xfrm>
          <a:prstGeom prst="rect">
            <a:avLst/>
          </a:prstGeom>
          <a:solidFill>
            <a:srgbClr val="0A1628"/>
          </a:solidFill>
          <a:ln w="6350">
            <a:solidFill>
              <a:srgbClr val="00B4D8"/>
            </a:solidFill>
            <a:prstDash val="solid"/>
          </a:ln>
        </p:spPr>
        <p:txBody>
          <a:bodyPr/>
          <a:lstStyle/>
          <a:p>
            <a:endParaRPr lang="en-US"/>
          </a:p>
        </p:txBody>
      </p:sp>
      <p:sp>
        <p:nvSpPr>
          <p:cNvPr id="29" name="Text 27"/>
          <p:cNvSpPr/>
          <p:nvPr/>
        </p:nvSpPr>
        <p:spPr>
          <a:xfrm>
            <a:off x="402336" y="4791456"/>
            <a:ext cx="8321040" cy="164592"/>
          </a:xfrm>
          <a:prstGeom prst="rect">
            <a:avLst/>
          </a:prstGeom>
          <a:noFill/>
          <a:ln/>
        </p:spPr>
        <p:txBody>
          <a:bodyPr wrap="square" rtlCol="0" anchor="ctr"/>
          <a:lstStyle/>
          <a:p>
            <a:pPr marL="0" indent="0">
              <a:buNone/>
            </a:pPr>
            <a:r>
              <a:rPr lang="en-US" sz="750" i="1" dirty="0">
                <a:solidFill>
                  <a:srgbClr val="00B4D8"/>
                </a:solidFill>
                <a:latin typeface="Calibri" pitchFamily="34" charset="0"/>
                <a:ea typeface="Calibri" pitchFamily="34" charset="-122"/>
                <a:cs typeface="Calibri" pitchFamily="34" charset="-120"/>
              </a:rPr>
              <a:t>Next steps:  Real-time disruption simulation  ·  Dual-sourcing for seat and battery  ·  Zone-level buffer optimisation</a:t>
            </a:r>
            <a:endParaRPr lang="en-US" sz="750" dirty="0"/>
          </a:p>
        </p:txBody>
      </p:sp>
      <p:sp>
        <p:nvSpPr>
          <p:cNvPr id="30" name="Text 28"/>
          <p:cNvSpPr/>
          <p:nvPr/>
        </p:nvSpPr>
        <p:spPr>
          <a:xfrm>
            <a:off x="0" y="4992624"/>
            <a:ext cx="9144000" cy="155448"/>
          </a:xfrm>
          <a:prstGeom prst="rect">
            <a:avLst/>
          </a:prstGeom>
          <a:noFill/>
          <a:ln/>
        </p:spPr>
        <p:txBody>
          <a:bodyPr wrap="square" rtlCol="0" anchor="ctr"/>
          <a:lstStyle/>
          <a:p>
            <a:pPr marL="0" indent="0" algn="ctr">
              <a:buNone/>
            </a:pPr>
            <a:r>
              <a:rPr lang="en-US" sz="700" dirty="0">
                <a:solidFill>
                  <a:srgbClr val="7B96B2"/>
                </a:solidFill>
              </a:rPr>
              <a:t>Moetz et al. (2020)  ·  Neo4j Graph Data Science  ·  Spring 2026 Capstone</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1865</Words>
  <Application>Microsoft Office PowerPoint</Application>
  <PresentationFormat>On-screen Show (16:9)</PresentationFormat>
  <Paragraphs>187</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Masheia Dzimba [student]</cp:lastModifiedBy>
  <cp:revision>2</cp:revision>
  <dcterms:created xsi:type="dcterms:W3CDTF">2026-04-28T12:43:42Z</dcterms:created>
  <dcterms:modified xsi:type="dcterms:W3CDTF">2026-04-28T13:35:08Z</dcterms:modified>
</cp:coreProperties>
</file>